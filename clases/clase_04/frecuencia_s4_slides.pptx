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66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 u="sng"/>
          </a:p>
        </p:txBody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4" name="Image 0" descr="f1_poisson_pm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377440"/>
            <a:ext cx="361188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7548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siniestros ocurren?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FRECUENCIA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 err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</a:t>
            </a: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4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Frecuencia siniestral: el conteo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206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binomial a la Poisson: cuántos siniestros ocurren, y por qué esa es la otra mitad de la prima.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la severidad a la frecuencia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otra pieza de la prima pura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400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vimos la severidad: cuánto cuesta cada siniestro, E[X].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toca la frecuencia: cuántos siniestros ocurren, E[N].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prima pura las junta a las dos. La frecuencia es un conteo, no un monto — se modela distinto.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2103120"/>
            <a:ext cx="4389120" cy="2194560"/>
          </a:xfrm>
          <a:prstGeom prst="roundRect">
            <a:avLst>
              <a:gd name="adj" fmla="val 3333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f1_pri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6942" y="2606040"/>
            <a:ext cx="3845636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0" y="3429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E[N]   ·   ya visto: E[X]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frecuencia es una variable discreta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eventos: N ∈ {0, 1, 2, 3, …}</a:t>
            </a:r>
            <a:endParaRPr lang="en-US" sz="1500" dirty="0"/>
          </a:p>
        </p:txBody>
      </p:sp>
      <p:pic>
        <p:nvPicPr>
          <p:cNvPr id="5" name="Image 0" descr="f1_cont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5374257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196596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es un conteo: 0, 1, 2… siniestros. No toma valores continuos como la severidad.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describe con una función de masa P(N=k) —barras—, no con una densidad.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usamos distribuciones discretas: binomial, Poisson, binomial negativa.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Binomial: el punto de partida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pólizas, cada una con probabilidad p de siniestro</a:t>
            </a:r>
            <a:endParaRPr lang="en-US" sz="1500" dirty="0"/>
          </a:p>
        </p:txBody>
      </p:sp>
      <p:pic>
        <p:nvPicPr>
          <p:cNvPr id="5" name="Image 0" descr="f1_bin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23" y="1508760"/>
            <a:ext cx="3097161" cy="457200"/>
          </a:xfrm>
          <a:prstGeom prst="rect">
            <a:avLst/>
          </a:prstGeom>
        </p:spPr>
      </p:pic>
      <p:pic>
        <p:nvPicPr>
          <p:cNvPr id="6" name="Image 1" descr="f1_binom_pm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31720"/>
            <a:ext cx="4975746" cy="3200400"/>
          </a:xfrm>
          <a:prstGeom prst="rect">
            <a:avLst/>
          </a:prstGeom>
        </p:spPr>
      </p:pic>
      <p:pic>
        <p:nvPicPr>
          <p:cNvPr id="7" name="Image 2" descr="f1_binm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514600"/>
            <a:ext cx="3580908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5080" y="3108960"/>
            <a:ext cx="5349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cuántas de n pólizas tienen siniestro; cada una es “éxito” con probabilidad p.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media es np y la varianza np(1−p): un modelo de dos parámetros muy intuitivo.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cuando el número de pólizas (los “intentos”) es fijo y conocido.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rasgo de la binomial: subdispersión y tope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menor que la media, y máximo n siniestros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Subdispersión</a:t>
            </a:r>
            <a:endParaRPr lang="en-US" sz="1900" dirty="0"/>
          </a:p>
        </p:txBody>
      </p:sp>
      <p:pic>
        <p:nvPicPr>
          <p:cNvPr id="7" name="Image 0" descr="f1_subdis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228" y="2697480"/>
            <a:ext cx="2178359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52044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0 &lt; p &lt; 1, la varianza es menor que la media: Var/E = 1−p &lt; 1.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conteo está “más apretado” alrededor de su media que una Poisson.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límite de n fijo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4983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haber más de n siniestros: el conteo tiene tope.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cuando ese tope es real (p. ej. n pólizas, cada una a lo más un siniestro al año).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corta cuando una póliza puede tener varios siniestros o n es enorme y desconocido.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Poisson: el límite de la binomial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pólizas, cada una improbable</a:t>
            </a:r>
            <a:endParaRPr lang="en-US" sz="1500" dirty="0"/>
          </a:p>
        </p:txBody>
      </p:sp>
      <p:pic>
        <p:nvPicPr>
          <p:cNvPr id="5" name="Image 0" descr="f1_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40"/>
            <a:ext cx="5244835" cy="3291840"/>
          </a:xfrm>
          <a:prstGeom prst="rect">
            <a:avLst/>
          </a:prstGeom>
        </p:spPr>
      </p:pic>
      <p:pic>
        <p:nvPicPr>
          <p:cNvPr id="6" name="Image 1" descr="f1_limite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20240"/>
            <a:ext cx="425078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25146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tomas la binomial y haces n → ∞ y p → 0 manteniendo np = λ constante, la binomial tiende a una Poisson(λ).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modelo natural de “muchas pólizas, cada una con probabilidad chiquita”: no importa n, solo la tasa esperada λ.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gráfica: al crecer n (y bajar p), las barras binomiales se pegan a la curva Poisson.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Poisson: un solo parámetro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base de la frecuencia</a:t>
            </a:r>
            <a:endParaRPr lang="en-US" sz="1500" dirty="0"/>
          </a:p>
        </p:txBody>
      </p:sp>
      <p:pic>
        <p:nvPicPr>
          <p:cNvPr id="5" name="Image 0" descr="f1_pois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453" y="1481328"/>
            <a:ext cx="1660902" cy="457200"/>
          </a:xfrm>
          <a:prstGeom prst="rect">
            <a:avLst/>
          </a:prstGeom>
        </p:spPr>
      </p:pic>
      <p:pic>
        <p:nvPicPr>
          <p:cNvPr id="6" name="Image 1" descr="f1_poisson_pm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31720"/>
            <a:ext cx="4975746" cy="3200400"/>
          </a:xfrm>
          <a:prstGeom prst="rect">
            <a:avLst/>
          </a:prstGeom>
        </p:spPr>
      </p:pic>
      <p:pic>
        <p:nvPicPr>
          <p:cNvPr id="7" name="Image 2" descr="f1_poism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514600"/>
            <a:ext cx="2112335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3063240"/>
            <a:ext cx="5303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parámetro λ = número esperado de siniestros. Modela eventos que llegan al azar en el tiempo.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Supuestos: siniestros independientes, a tasa constante, sin dos exactamente simultáneos.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6400800" y="47091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263B6E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5"/>
          <p:cNvSpPr/>
          <p:nvPr/>
        </p:nvSpPr>
        <p:spPr>
          <a:xfrm>
            <a:off x="6629400" y="47091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Equidispersión: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E[N] = Var[N] = λ. Justo este supuesto es el que la próxima sesión pondrá en duda.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Exposición y tasa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depende de cuánto tiempo estuvo expuesta la póliza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766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no es un número suelto: es una tasa por unidad de exposición (años-póliza).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12 meses no es lo mismo que 6: el número esperado de siniestros escala con la exposición eᵢ.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 tasa se estima como el total de siniestros entre el total de exposición.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modelos (GLM, más adelante) esa exposición entra como offset — un ajuste fijo, no un parámetro a estimar.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28600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pic>
        <p:nvPicPr>
          <p:cNvPr id="7" name="Image 0" descr="f1_off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422" y="2788920"/>
            <a:ext cx="2238997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eᵢ = exposición de la póliza 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El hilo: de subdispersa a sobredispersa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21208" y="98755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 cada distribución de conteo</a:t>
            </a:r>
            <a:endParaRPr lang="en-US" sz="1500" dirty="0"/>
          </a:p>
        </p:txBody>
      </p:sp>
      <p:pic>
        <p:nvPicPr>
          <p:cNvPr id="5" name="Image 0" descr="f1_disp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5425991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Binomial: Var &lt; media (subdispersa) — conteo apretado, con tope.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Poisson: Var = media (equidispersa) — la referencia.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datos reales suele pasar que Var &gt; media (sobredispersa): la cartera es heterogénea, hay cúmulos.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la Poisson se queda corta → la próxima sesión: la binomial negativa.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1 — Frecuencia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 notebook y a 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el notebook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Poisson a conteos, comparamos observado vs. esperado, y medimos exposición y tasa.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Próxima sesión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Sobredispersión y binomial negativa (Poisson–Gamma), y unir frecuencia con severidad: E[S] y Var[S].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simular todavía: la distribución completa de S y la simulación son de la Semana 3.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</Words>
  <Application>Microsoft Office PowerPoint</Application>
  <PresentationFormat>Panorámica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ERIC DANIEL HERNANDEZ JARDON</cp:lastModifiedBy>
  <cp:revision>2</cp:revision>
  <dcterms:created xsi:type="dcterms:W3CDTF">2026-08-24T17:37:00Z</dcterms:created>
  <dcterms:modified xsi:type="dcterms:W3CDTF">2026-08-24T18:09:45Z</dcterms:modified>
</cp:coreProperties>
</file>