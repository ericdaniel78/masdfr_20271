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Shape 1"/>
          <p:cNvSpPr/>
          <p:nvPr/>
        </p:nvSpPr>
        <p:spPr>
          <a:xfrm>
            <a:off x="7818120" y="777240"/>
            <a:ext cx="3886200" cy="5257800"/>
          </a:xfrm>
          <a:prstGeom prst="roundRect">
            <a:avLst>
              <a:gd name="adj" fmla="val 1882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4" name="Image 0" descr="curve_te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2440" y="2331720"/>
            <a:ext cx="3337560" cy="219456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818120" y="4617720"/>
            <a:ext cx="3886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asegurado comparte el riesgo</a:t>
            </a: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640080" y="8229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TEMA 2.7 — ELEMENTOS CONDICIONADOS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94360" y="1417320"/>
            <a:ext cx="68580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Sesión 11</a:t>
            </a:r>
            <a:endParaRPr lang="en-US" sz="4200" dirty="0"/>
          </a:p>
        </p:txBody>
      </p:sp>
      <p:sp>
        <p:nvSpPr>
          <p:cNvPr id="8" name="Text 5"/>
          <p:cNvSpPr/>
          <p:nvPr/>
        </p:nvSpPr>
        <p:spPr>
          <a:xfrm>
            <a:off x="621792" y="2377440"/>
            <a:ext cx="7040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Deducible, coaseguro y franquicia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640080" y="315468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Matemáticas Actuariales para Seguro de Daños, Fianzas y Reaseguro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640080" y="4160520"/>
            <a:ext cx="68580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las condiciones de la póliza transforman la severidad y su impacto en la prima pura.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640080" y="5852160"/>
            <a:ext cx="6858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Facultad de Ciencias · UNAM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Dónde estamos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Volvemos a la prima pura, ahora por el lado de la cobertura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83080"/>
            <a:ext cx="11064240" cy="3566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las Sesiones 9 y 10 subimos de la prima pura a la técnica y a la comercial: todo hacia arriba.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Hoy regresamos a la prima PURA y la miramos por dentro: las condiciones de la póliza cambian cuánto paga la aseguradora por cada siniestro.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Deducible, coaseguro, límite (suma asegurada) y franquicia modifican la severidad → y por eso cambian la prima pura.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 exactamente lo que ya tocaron en la Práctica 1 (su cartera trae deducible, suma asegurada y coaseguro): hoy va la teoría.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10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idea central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 descuento a ojo: es una transformación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2377440" y="1828800"/>
            <a:ext cx="740664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11_prim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79944" y="2084832"/>
            <a:ext cx="4419921" cy="38404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40080" y="3200400"/>
            <a:ext cx="1097280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pago por siniestro Y es una función de la severidad ground-up X (lo que costaría sin condiciones).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 transformar X, cambia su esperanza E[Y] — y la prima pura es frecuencia × E[Y].</a:t>
            </a:r>
            <a:endParaRPr lang="en-US" sz="16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Cuánto baja la prima lo dicta la DISTRIBUCIÓN de X, no una regla fija: por eso hay que modelar, no adivinar.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10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Deducible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asegurado absorbe un monto fijo en cada siniestro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822960" y="182880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6" name="Image 0" descr="s11_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10381" y="2029968"/>
            <a:ext cx="4159045" cy="45720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822960" y="2880360"/>
            <a:ext cx="10515600" cy="914400"/>
          </a:xfrm>
          <a:prstGeom prst="roundRect">
            <a:avLst>
              <a:gd name="adj" fmla="val 8000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8" name="Image 1" descr="s11_E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93832" y="3044952"/>
            <a:ext cx="2592143" cy="51206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40080" y="3977640"/>
            <a:ext cx="1106424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aseguradora solo paga el exceso sobre el deducible d; todo lo de abajo lo cubre el asegurado.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costo esperado por siniestro es el área bajo la curva de supervivencia a partir de d.</a:t>
            </a:r>
            <a:endParaRPr lang="en-US" sz="15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la cartera: a d = $20,000 la prima pura baja de $18,798 a $12,451 (factor 0.662).</a:t>
            </a:r>
            <a:endParaRPr lang="en-US" sz="1500" dirty="0"/>
          </a:p>
        </p:txBody>
      </p:sp>
      <p:sp>
        <p:nvSpPr>
          <p:cNvPr id="10" name="Text 6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10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Costo por siniestro vs. costo por pago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esperanzas que conviene no confundir</a:t>
            </a:r>
            <a:endParaRPr lang="en-US" sz="1500" dirty="0"/>
          </a:p>
        </p:txBody>
      </p:sp>
      <p:pic>
        <p:nvPicPr>
          <p:cNvPr id="5" name="Image 0" descr="s11_cpp_fi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2240280"/>
            <a:ext cx="4678813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645920"/>
            <a:ext cx="5074920" cy="1051560"/>
          </a:xfrm>
          <a:prstGeom prst="roundRect">
            <a:avLst>
              <a:gd name="adj" fmla="val 6957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s11_cp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71641" y="1874520"/>
            <a:ext cx="1981294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2743200"/>
            <a:ext cx="512064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siniestro E[(X-d)+]: promedia sobre TODOS los siniestros (los chicos pagan 0). Es la que usa la prima.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Costo por pago E[(X-d)+]/S(d): promedia solo cuando hay pago (X&gt;d). Es lo que se desembolsa al pagar.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'U': con d chico pesa restar a cada pago (baja); con d grande solo sobreviven los siniestros caros (sube).</a:t>
            </a:r>
            <a:endParaRPr lang="en-US" sz="12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universal: en la exponencial es plano; la U viene de que la severidad es lognormal.</a:t>
            </a:r>
            <a:endParaRPr lang="en-US" sz="125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10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Coaseguro y límite (suma asegurada)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Dos condiciones más, y cómo se combinan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6492240" cy="2194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Coaseguro c: fracción a cargo del asegurado tras el deducible → la aseguradora paga (1-c).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 / suma asegurada M: nunca paga más de M por siniestro → min(X, M).</a:t>
            </a:r>
            <a:endParaRPr lang="en-US" sz="15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5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Todo junto, el pago por siniestro combina las tres condiciones:</a:t>
            </a:r>
            <a:endParaRPr lang="en-US" sz="1550" dirty="0"/>
          </a:p>
        </p:txBody>
      </p:sp>
      <p:sp>
        <p:nvSpPr>
          <p:cNvPr id="6" name="Shape 4"/>
          <p:cNvSpPr/>
          <p:nvPr/>
        </p:nvSpPr>
        <p:spPr>
          <a:xfrm>
            <a:off x="822960" y="3886200"/>
            <a:ext cx="6035040" cy="914400"/>
          </a:xfrm>
          <a:prstGeom prst="roundRect">
            <a:avLst>
              <a:gd name="adj" fmla="val 8000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0" descr="s11_com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05699" y="4069080"/>
            <a:ext cx="4069561" cy="384048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7360920" y="1783080"/>
            <a:ext cx="4343400" cy="3840480"/>
          </a:xfrm>
          <a:prstGeom prst="roundRect">
            <a:avLst>
              <a:gd name="adj" fmla="val 1905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360920" y="1965960"/>
            <a:ext cx="4343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Efecto del coaseguro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589520" y="2423160"/>
          <a:ext cx="3840480" cy="914400"/>
        </p:xfrm>
        <a:graphic>
          <a:graphicData uri="http://schemas.openxmlformats.org/drawingml/2006/table">
            <a:tbl>
              <a:tblPr/>
              <a:tblGrid>
                <a:gridCol w="1920240"/>
                <a:gridCol w="19202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coaseguro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$18,798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$16,918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$15,038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30%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$13,159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Text 7"/>
          <p:cNvSpPr/>
          <p:nvPr/>
        </p:nvSpPr>
        <p:spPr>
          <a:xfrm>
            <a:off x="7589520" y="4709160"/>
            <a:ext cx="3886200" cy="868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coaseguro MULTIPLICA (parejo a todos) → lineal. El deducible RESTA (pega a los chicos) → no lineal.</a:t>
            </a:r>
            <a:endParaRPr lang="en-US" sz="1250" dirty="0"/>
          </a:p>
        </p:txBody>
      </p:sp>
      <p:sp>
        <p:nvSpPr>
          <p:cNvPr id="12" name="Text 8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13" name="Text 9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10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Franquicia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umbral: todo o nada</a:t>
            </a:r>
            <a:endParaRPr lang="en-US" sz="1500" dirty="0"/>
          </a:p>
        </p:txBody>
      </p:sp>
      <p:pic>
        <p:nvPicPr>
          <p:cNvPr id="5" name="Image 0" descr="s11_payoff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645920"/>
            <a:ext cx="6725793" cy="42062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629400" y="1645920"/>
            <a:ext cx="5074920" cy="868680"/>
          </a:xfrm>
          <a:prstGeom prst="roundRect">
            <a:avLst>
              <a:gd name="adj" fmla="val 8421"/>
            </a:avLst>
          </a:prstGeom>
          <a:solidFill>
            <a:srgbClr val="263B6E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pic>
        <p:nvPicPr>
          <p:cNvPr id="7" name="Image 1" descr="s11_franq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09849" y="1828800"/>
            <a:ext cx="1904878" cy="384048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629400" y="2697480"/>
            <a:ext cx="5120640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el siniestro no supera f, la aseguradora NO paga nada; si lo supera, paga el siniestro COMPLETO.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 eso, al mismo umbral, una franquicia es más cara que un deducible: a $20,000 la prima es $17,561 vs $12,451.</a:t>
            </a:r>
            <a:endParaRPr lang="en-US" sz="135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 México domina el deducible (autos, GMM, daños). La franquicia-umbral se ve en transportes/marítimo, algo de RC y en reaseguro.</a:t>
            </a:r>
            <a:endParaRPr lang="en-US" sz="1350" dirty="0"/>
          </a:p>
        </p:txBody>
      </p:sp>
      <p:sp>
        <p:nvSpPr>
          <p:cNvPr id="9" name="Text 5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10" name="Text 6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10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Casos analíticos: exponencial y lognormal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 suponemos una distribución, el factor tiene fórmula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64008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6868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7A69B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Exponencial</a:t>
            </a:r>
            <a:endParaRPr lang="en-US" sz="1700" dirty="0"/>
          </a:p>
        </p:txBody>
      </p:sp>
      <p:pic>
        <p:nvPicPr>
          <p:cNvPr id="7" name="Image 0" descr="s11_ex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3090" y="2423160"/>
            <a:ext cx="2268940" cy="45720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3154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factor es la pura supervivencia: simple y fácil de explicar.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6172200" y="1737360"/>
            <a:ext cx="5394960" cy="2103120"/>
          </a:xfrm>
          <a:prstGeom prst="roundRect">
            <a:avLst>
              <a:gd name="adj" fmla="val 3478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00800" y="1874520"/>
            <a:ext cx="4937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E8873C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Lognormal</a:t>
            </a:r>
            <a:endParaRPr lang="en-US" sz="1700" dirty="0"/>
          </a:p>
        </p:txBody>
      </p:sp>
      <p:pic>
        <p:nvPicPr>
          <p:cNvPr id="11" name="Image 1" descr="s11_ln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2815" y="2468880"/>
            <a:ext cx="3113731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400800" y="3154680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 E[X∧d] en forma cerrada (Φ): describe mejor la severidad real, sesgada.</a:t>
            </a:r>
            <a:endParaRPr lang="en-US" sz="13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737360" y="4114800"/>
          <a:ext cx="8686800" cy="914400"/>
        </p:xfrm>
        <a:graphic>
          <a:graphicData uri="http://schemas.openxmlformats.org/drawingml/2006/table">
            <a:tbl>
              <a:tblPr/>
              <a:tblGrid>
                <a:gridCol w="2103120"/>
                <a:gridCol w="2194560"/>
                <a:gridCol w="2194560"/>
                <a:gridCol w="21945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empírico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exponencial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lognormal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7A6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0.826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88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0.815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7A6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0.683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88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17A69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0.564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00" dirty="0">
                          <a:solidFill>
                            <a:srgbClr val="E8873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4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4" name="Text 9"/>
          <p:cNvSpPr/>
          <p:nvPr/>
        </p:nvSpPr>
        <p:spPr>
          <a:xfrm>
            <a:off x="640080" y="5669280"/>
            <a:ext cx="10972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Empírico = directo de los datos · analítico = de la fórmula (parámetros estimados de esos mismos datos). La lognormal pega casi exacto.</a:t>
            </a:r>
            <a:endParaRPr lang="en-US" sz="1250" dirty="0"/>
          </a:p>
        </p:txBody>
      </p:sp>
      <p:sp>
        <p:nvSpPr>
          <p:cNvPr id="15" name="Text 10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16" name="Text 11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10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502920" y="365760"/>
            <a:ext cx="1115568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La curva prima vs. deducible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21208" y="950976"/>
            <a:ext cx="111556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7A69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aquí salen las tablas de factores</a:t>
            </a:r>
            <a:endParaRPr lang="en-US" sz="1500" dirty="0"/>
          </a:p>
        </p:txBody>
      </p:sp>
      <p:pic>
        <p:nvPicPr>
          <p:cNvPr id="5" name="Image 0" descr="s11_curv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965960"/>
            <a:ext cx="4898132" cy="3063240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858000" y="1828800"/>
          <a:ext cx="466344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1463040"/>
                <a:gridCol w="1463040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deducible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factor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b="1" dirty="0">
                          <a:solidFill>
                            <a:srgbClr val="A9B6D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prima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$18,798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0.816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$15,331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$20,000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0.662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$12,451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$30,000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0.543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450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$10,201</a:t>
                      </a:r>
                      <a:endParaRPr lang="en-US" sz="14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A3D6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858000" y="4114800"/>
            <a:ext cx="48463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curva es decreciente y CONVEXA: no baja en línea recta.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tabla de factores que publican las aseguradoras es esta curva tabulada.</a:t>
            </a:r>
            <a:endParaRPr lang="en-US" sz="1400" dirty="0"/>
          </a:p>
          <a:p>
            <a:pPr marL="177800" indent="-177800">
              <a:lnSpc>
                <a:spcPct val="105000"/>
              </a:lnSpc>
              <a:spcAft>
                <a:spcPts val="900"/>
              </a:spcAft>
              <a:buSzPct val="100000"/>
              <a:buChar char="•"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'descuento' por deducible es el RESULTADO de la distribución, no un supuesto.</a:t>
            </a:r>
            <a:endParaRPr lang="en-US" sz="1400" dirty="0"/>
          </a:p>
        </p:txBody>
      </p:sp>
      <p:sp>
        <p:nvSpPr>
          <p:cNvPr id="8" name="Text 4"/>
          <p:cNvSpPr/>
          <p:nvPr/>
        </p:nvSpPr>
        <p:spPr>
          <a:xfrm>
            <a:off x="502920" y="6455664"/>
            <a:ext cx="8961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Tema 2.7 · Sesión 11 — Deducible, coaseguro y franquicia</a:t>
            </a:r>
            <a:endParaRPr lang="en-US" sz="900" dirty="0"/>
          </a:p>
        </p:txBody>
      </p:sp>
      <p:sp>
        <p:nvSpPr>
          <p:cNvPr id="9" name="Text 5"/>
          <p:cNvSpPr/>
          <p:nvPr/>
        </p:nvSpPr>
        <p:spPr>
          <a:xfrm>
            <a:off x="10881360" y="6455664"/>
            <a:ext cx="822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10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F1E3D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7772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Lo que sigue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17A69B"/>
          </a:solidFill>
          <a:ln/>
        </p:spPr>
      </p:sp>
      <p:sp>
        <p:nvSpPr>
          <p:cNvPr id="6" name="Text 4"/>
          <p:cNvSpPr/>
          <p:nvPr/>
        </p:nvSpPr>
        <p:spPr>
          <a:xfrm>
            <a:off x="96012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Idea que se llevan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condiciones de la póliza transforman la severidad y re-precian la prima pura. Las tablas de factores son un output del modelo, no un supuesto.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0" y="2011680"/>
            <a:ext cx="5486400" cy="2743200"/>
          </a:xfrm>
          <a:prstGeom prst="roundRect">
            <a:avLst>
              <a:gd name="adj" fmla="val 2667"/>
            </a:avLst>
          </a:prstGeom>
          <a:solidFill>
            <a:srgbClr val="1C2E56"/>
          </a:solidFill>
          <a:ln/>
          <a:effectLst>
            <a:outerShdw sx="100000" sy="100000" kx="0" ky="0" algn="bl" rotWithShape="0" blurRad="76200" dist="25400" dir="5400000">
              <a:srgbClr val="000000">
                <a:alpha val="35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0" y="2011680"/>
            <a:ext cx="5486400" cy="658368"/>
          </a:xfrm>
          <a:prstGeom prst="roundRect">
            <a:avLst>
              <a:gd name="adj" fmla="val 11111"/>
            </a:avLst>
          </a:prstGeom>
          <a:solidFill>
            <a:srgbClr val="E8873C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2084832"/>
            <a:ext cx="493776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Bookman Old Style" pitchFamily="34" charset="0"/>
                <a:ea typeface="Bookman Old Style" pitchFamily="34" charset="-122"/>
                <a:cs typeface="Bookman Old Style" pitchFamily="34" charset="-120"/>
              </a:rPr>
              <a:t>Próxima sesión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766560" y="2926080"/>
            <a:ext cx="475488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dónde salen los recargos (gastos, comisiones, margen): leer los estados de resultados del sector con la guía de ramos.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A9B6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MASDFR · Facultad de Ciencias, UNAM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2026-10-05T19:27:41Z</dcterms:created>
  <dcterms:modified xsi:type="dcterms:W3CDTF">2026-10-05T19:27:41Z</dcterms:modified>
</cp:coreProperties>
</file>