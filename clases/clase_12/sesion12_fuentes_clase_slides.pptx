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12_p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143000"/>
            <a:ext cx="35941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5532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 el número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— CÁLCULO DE PRIMAS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guía de ramos: leer los estados financieros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buscar, qué documento abrir, qué rubro leer y cómo interpretarlo — para sustentar los recargos de la nota técnica.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esta clase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10 los recargos fueron a ojo; aquí, de dónde salen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prima técnica cargamos gastos, comisiones y margen — con porcentajes ILUSTRATIVOS.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nota técnica, cada recargo necesita un SUSTENTO real: de dónde salió y de qué documento.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calculamos (eso ya se vio): hoy aprendemos a INVESTIGAR — dónde está publicado y cómo leerlo.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aseguradora publica sus números. Vamos a navegarlos: fuentes, estructura, rubros e interpretación.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 fuentes de información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lugares donde están publicados los números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703320" cy="3749040"/>
          </a:xfrm>
          <a:prstGeom prst="roundRect">
            <a:avLst>
              <a:gd name="adj" fmla="val 197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RSCF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sobre la Solvencia y Condición Financiera. La CNSF lo obliga a TODAS, coticen o no. Formato ESTANDARIZADO → la misma tabla en el mismo lugar para cualquier aseguradora.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703320" cy="3749040"/>
          </a:xfrm>
          <a:prstGeom prst="roundRect">
            <a:avLst>
              <a:gd name="adj" fmla="val 197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1783080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E8873C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17830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Informe trimestral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0288" y="25146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que cotizan en bolsa (Quálitas, GNP…). Trae los índices ya calculados y un comunicado con lo relevante.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9016" y="1783080"/>
            <a:ext cx="3703320" cy="3749040"/>
          </a:xfrm>
          <a:prstGeom prst="roundRect">
            <a:avLst>
              <a:gd name="adj" fmla="val 197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9016" y="1783080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4C7FD1"/>
          </a:solidFill>
          <a:ln/>
        </p:spPr>
      </p:sp>
      <p:sp>
        <p:nvSpPr>
          <p:cNvPr id="15" name="Text 13"/>
          <p:cNvSpPr/>
          <p:nvPr/>
        </p:nvSpPr>
        <p:spPr>
          <a:xfrm>
            <a:off x="8129016" y="178308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CNSF / AMIS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03336" y="25146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agregado del SECTOR por ramo: Anuario Estadístico y Boletín de Análisis Sectorial (CNSF); estadísticas de AMIS.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para comparar entre aseguradoras usa el RSCF (es igual para todas); para una foto rápida del sector, la CNSF/AMIS.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estructura de un RSCF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secciones (A–I): dónde vive cada cosa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167128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167128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167128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 Capital (RCS)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642616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642616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4261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642616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propios y capital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118104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118104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17A69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181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118104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Financiera  ← Estado de Resultados (D4)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593592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3593592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593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593592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Portafolios de inversión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06908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069080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690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069080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técnicas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4544568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4544568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E8873C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5445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544568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Resultados de Operación  ← índices por ramo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020056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" y="5020056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0200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020056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" y="5495544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" y="5495544"/>
            <a:ext cx="457200" cy="420624"/>
          </a:xfrm>
          <a:prstGeom prst="roundRect">
            <a:avLst>
              <a:gd name="adj" fmla="val 10870"/>
            </a:avLst>
          </a:prstGeom>
          <a:solidFill>
            <a:srgbClr val="8FA0C8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4955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495544"/>
            <a:ext cx="6446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Reaseguro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21040" y="16916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32104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que nos importan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4964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Información Financiera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D4: Estado de Resultados (Daños). El documento crudo.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Desempeño y Operación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G2–G5: siniestralidad, adquisición, operación y combinado — YA por ramo.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rubros vamos a analizar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del estado de resultados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863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 emitida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se vendió (contratado) en el periodo.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 retenida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emitido menos lo cedido a reaseguro.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 devengada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parte de la prima que ya 'corrió' en el tiempo.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siniestralidad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se pagó/reservó de siniestros.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adquisición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Comisiones y gastos de venta.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de operación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cuesta administrar (personal, sistemas).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técnico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queda del negocio de seguros (antes de inversiones).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interpretar los rubros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renglón del estado de resultados a recargo de la prima</a:t>
            </a:r>
            <a:endParaRPr lang="en-US" sz="1500" dirty="0"/>
          </a:p>
        </p:txBody>
      </p:sp>
      <p:pic>
        <p:nvPicPr>
          <p:cNvPr id="5" name="Image 0" descr="s12_p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594198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82880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siniestralidad es la prima pura que ya saben calcular (Tema 2.2).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adquisición → su recargo de COMISIONES.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gastos de operación → su recargo de GASTOS.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combinado = suma de los tres; si pasa de 100%, el ramo pierde en lo técnico.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deja el combinado es el MARGEN (≈ 100% − combinado).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Los índices y su base correcta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clásico: dividir entre la prima equivocada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Siniestralidad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siniestros ÷ prima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A6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devengada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(prima pura)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adquisición ÷ prima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8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÷ prima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8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480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Siniestralidad va sobre prima DEVENGADA; adquisición y operación sobre prima EMITIDA. Si te equivocas de base, el recargo sale mal y no cuadra con lo que la empresa reporta.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 posibles diferencias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confunden los números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476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Consolidada vs. aseguradora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de bolsa suele ser la CONTROLADORA (grupo); el RSCF es la ASEGURADORA que opera. Las cifras no coinciden.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476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Emitida vs. devengada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4144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iguales (hay prima aún no devengada). Cambia la base de los índices.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9136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Empresa vs. sector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40740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aseguradora puede ser más eficiente (o menos) que el promedio del ramo. Contrasta con CNSF/AMIS.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9136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Año con año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40740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índices se mueven. Por eso en la nota técnica se documenta un RANGO, no un punto.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camino de lectura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iguales para cualquier ramo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17A69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73736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Elige la fuente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RSCF de una aseguradora de tu ramo (o el sector en CNSF/AMIS).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57860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17A69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7860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257860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Abre la sección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578608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RSCF: Sección G (índices por ramo) o D4 (estado de resultados).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419856"/>
            <a:ext cx="749808" cy="749808"/>
          </a:xfrm>
          <a:prstGeom prst="roundRect">
            <a:avLst>
              <a:gd name="adj" fmla="val 9756"/>
            </a:avLst>
          </a:prstGeom>
          <a:solidFill>
            <a:srgbClr val="17A69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19856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341985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Ubica tu ramo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419856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tablas G2–G5, busca el renglón de TU ramo.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261104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261104"/>
            <a:ext cx="749808" cy="749808"/>
          </a:xfrm>
          <a:prstGeom prst="roundRect">
            <a:avLst>
              <a:gd name="adj" fmla="val 9756"/>
            </a:avLst>
          </a:prstGeom>
          <a:solidFill>
            <a:srgbClr val="17A69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6110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83080" y="426110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Lee el rubro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4261104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adquisición → comisiones; costo de operación → gastos.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5102352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102352"/>
            <a:ext cx="749808" cy="749808"/>
          </a:xfrm>
          <a:prstGeom prst="roundRect">
            <a:avLst>
              <a:gd name="adj" fmla="val 9756"/>
            </a:avLst>
          </a:prstGeom>
          <a:solidFill>
            <a:srgbClr val="17A69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02352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83080" y="510235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 y documenta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5102352"/>
            <a:ext cx="6492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Conviértelo en recargo y propón un rango con su fuente.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buscar, por ramo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el detalle y las ligas están en la guía (PDF)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buscar (fuente representativa)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A6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Automóviles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Quálitas (líder), GNP, HDI, AXA — RSCF / informe. [caso trabajado]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Multiramo: GNP, AXA, Mapfre, Chubb, Zurich — RSCF Sección 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Marítimo / transp.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Chubb, AXA, Zurich, Mapfre, GNP — RSCF Sección 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Especialistas: Solunion, Coface, Atradius — RSCF propio.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Civil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GNP, AXA, Chubb, Zurich — RSCF Sección 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GNP, AXA, Mapfre, HDI, BBVA Seguros — RSCF Sección 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completo por ramo está en el Anuario Estadístico de la CNSF — úsalo para contrastar.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 · Sesión 12 — La guía de ramos: leer los estados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guía (PDF)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Llévate la guía: el camino de lectura paso a paso, el caso de autos con datos reales, y la recomendación para tu ramo.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 tarea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reporte de una aseguradora de tu ramo, ubica tus rubros y documenta tus recargos como un rango, con su fuente.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2026-10-08T02:12:30Z</dcterms:created>
  <dcterms:modified xsi:type="dcterms:W3CDTF">2026-10-08T02:12:30Z</dcterms:modified>
</cp:coreProperties>
</file>