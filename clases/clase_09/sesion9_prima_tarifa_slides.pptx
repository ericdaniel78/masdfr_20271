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curv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3172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prima pura al precio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· TEMA 2 — CÁLCULO DE PRIMAS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9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la prima pura a la prima de tarifa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tienen la prima pura de su ramo. Eso no es el precio: veamos qué le falta — y cómo se documenta.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prima pura no es el precio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del Tema 1, y hacia dónde vamos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17520" y="2103120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9_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190" y="2450592"/>
            <a:ext cx="4573429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Tema 1 obtuvieron la prima pura de su cartera: E[S], el costo esperado del riesgo.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eso cubre solo el siniestro promedio. Un cliente NO paga E[S] a secas.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llegar al precio (la prima de tarifa) faltan dos cosas: ajustar por el valor del dinero en el tiempo y sumar recargos.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atacamos lo primero (inflación / devaluación) y la prima de riesgo; los recargos vienen después.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4 · Sesión 9 — De la prima pura a la prima de tarifa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puente de esta sesión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falta a la prima pura para ser precio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2002536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Inflación / devaluación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3042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los montos a valor de hoy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35024" y="4434840"/>
            <a:ext cx="1005840" cy="411480"/>
          </a:xfrm>
          <a:prstGeom prst="rect">
            <a:avLst>
              <a:gd name="adj" fmla="val 13333"/>
            </a:avLst>
          </a:prstGeom>
          <a:solidFill>
            <a:srgbClr val="17A6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2424" y="196596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17A69B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002536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Prima de riesgo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75304" y="2743200"/>
            <a:ext cx="23042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puro, ya transformado por la póliza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24528" y="4434840"/>
            <a:ext cx="1005840" cy="411480"/>
          </a:xfrm>
          <a:prstGeom prst="rect">
            <a:avLst>
              <a:gd name="adj" fmla="val 13333"/>
            </a:avLst>
          </a:prstGeom>
          <a:solidFill>
            <a:srgbClr val="17A6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81928" y="196596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E887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2002536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IBNR y recargos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4808" y="2743200"/>
            <a:ext cx="23042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no reportados, gastos, margen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4032" y="4434840"/>
            <a:ext cx="1005840" cy="411480"/>
          </a:xfrm>
          <a:prstGeom prst="rect">
            <a:avLst>
              <a:gd name="adj" fmla="val 13333"/>
            </a:avLst>
          </a:prstGeom>
          <a:solidFill>
            <a:srgbClr val="E887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71432" y="196596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71432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E8873C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002536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Costo de reaseguro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54312" y="2743200"/>
            <a:ext cx="23042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la cola cuesta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03536" y="4434840"/>
            <a:ext cx="1005840" cy="411480"/>
          </a:xfrm>
          <a:prstGeom prst="rect">
            <a:avLst>
              <a:gd name="adj" fmla="val 13333"/>
            </a:avLst>
          </a:prstGeom>
          <a:solidFill>
            <a:srgbClr val="E887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pura  →  … estos ajustes …  →  prima de tarifa (el precio final)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4 · Sesión 9 — De la prima pura a la prima de tarifa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Inflación: traer los montos a valor de hoy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siniestro de 2019 no vale lo mismo que uno de 2024</a:t>
            </a:r>
            <a:endParaRPr lang="en-US" sz="1500" dirty="0"/>
          </a:p>
        </p:txBody>
      </p:sp>
      <p:pic>
        <p:nvPicPr>
          <p:cNvPr id="5" name="Image 0" descr="s9_infl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251508" cy="3200400"/>
          </a:xfrm>
          <a:prstGeom prst="rect">
            <a:avLst/>
          </a:prstGeom>
        </p:spPr>
      </p:pic>
      <p:pic>
        <p:nvPicPr>
          <p:cNvPr id="6" name="Image 1" descr="s9_inf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20"/>
            <a:ext cx="1770611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269748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 históricos mezclan siniestros de años distintos, en pesos de cada año.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usas tal cual, los años viejos subestiman el costo actual → la prima se queda corta.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ajustan con un índice (INPC, o uno propio del ramo): cada monto se lleva a valor de hoy.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esos montos homogéneos se re-estima la severidad y la prima pura.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4 · Sesión 9 — De la prima pura a la prima de tarifa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Depreciación y devaluación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otra cara del valor en el tiempo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532120" cy="3840480"/>
          </a:xfrm>
          <a:prstGeom prst="roundRect">
            <a:avLst>
              <a:gd name="adj" fmla="val 1905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Depreciación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bien asegurado pierde valor con el tiempo (un auto, un equipo).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asegurada y el pago deben reflejar el valor actual, no el de compra.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para fijar límites y para no sobre-indemnizar.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532120" cy="3840480"/>
          </a:xfrm>
          <a:prstGeom prst="roundRect">
            <a:avLst>
              <a:gd name="adj" fmla="val 1905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Devaluación (tipo de cambio)</a:t>
            </a:r>
            <a:endParaRPr lang="en-US" sz="1900" dirty="0"/>
          </a:p>
        </p:txBody>
      </p:sp>
      <p:pic>
        <p:nvPicPr>
          <p:cNvPr id="10" name="Image 0" descr="s9_d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754" y="2514600"/>
            <a:ext cx="2923868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46520" y="32004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con exposición en dólares (marítimo, transportes, algunos de daños) dependen del tipo de cambio.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devaluación sube el costo en pesos de un siniestro en USD.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debe contemplar ese riesgo cambiario.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4 · Sesión 9 — De la prima pura a la prima de tarifa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prima de riesgo depende de QUÉ severidad uses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con su Práctica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9_ries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7907" y="1993392"/>
            <a:ext cx="6823993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vieron que la severidad ground-up (el daño real) NO es la que paga la aseguradora.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aplicar deducible, coaseguro y límite (suma asegurada), la severidad se transforma y baja.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de riesgo se calcula sobre la severidad TRANSFORMADA: es lo que la aseguradora realmente desembolsa.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ground-up sobreestima la prima; usar la transformada es lo correcto para el producto.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4 · Sesión 9 — De la prima pura a la prima de tarifa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camino de la prima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que ya tienen al precio final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17A69B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pura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E[S] de tu ramo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84832" y="2468880"/>
            <a:ext cx="1554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21992" y="246888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17A69B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21992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Inflación /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devaluación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13432" y="3429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hoy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41064" y="2468880"/>
            <a:ext cx="1554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78224" y="246888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78224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IBNR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9664" y="3429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no reportados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97296" y="2468880"/>
            <a:ext cx="1554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34456" y="246888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34456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Recargos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25896" y="3429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+ margen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53528" y="2468880"/>
            <a:ext cx="1554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90688" y="246888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90688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Reaseguro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82128" y="3429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ceder la cola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9760" y="2468880"/>
            <a:ext cx="1554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46920" y="246888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C0504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4692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tarifa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38360" y="3429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verde, lo que ya calcularon y lo de HOY.  </a:t>
            </a:r>
            <a:pPr algn="ctr" indent="0" marL="0">
              <a:buNone/>
            </a:pPr>
            <a:r>
              <a:rPr lang="en-US" sz="13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gris/naranja, lo que se suma en las próximas sesiones y en los tracks de reservas y reaseguro.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349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flecha es un supuesto actuarial — y cada supuesto hay que justificarlo y documentarlo.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4 · Sesión 9 — De la prima pura a la prima de tarifa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Cada supuesto se documenta y se valida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sean de “menor análisis”, la nota técnica los exige con rigor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Inflación: qué índice usaste (INPC, uno propio), el periodo y por qué es el adecuado para el ramo.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Devaluación/depreciación: el tipo de cambio o la tabla de depreciación supuesta, y su fuente.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Transformaciones: los valores de deducible, coaseguro y suma asegurada — que coinciden con la póliza registrada.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IBNR y reaseguro: el factor y el costo supuestos, aunque el detalle venga de otro análisis.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4380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la nota técnica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18120" y="2423160"/>
            <a:ext cx="3611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que entra a la prima nace de un supuesto.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supuesto sin fuente, sin justificación y sin validación no es válido ante la CNSF.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 menor análisis” no significa “sin rigor”: se documenta igual.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4 · Sesión 9 — De la prima pura a la prima de tarifa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el notebook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por inflación una severidad histórica y vemos cómo cambia la prima pura; un vistazo a devaluación.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Próxima sesión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recargos: gastos, comisiones, márgenes técnicos y la prima comercial o de tarifa.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Recuerden: cada ajuste de esta sesión es un supuesto de su nota técnica — documéntenlo desde ya.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2026-09-17T18:53:32Z</dcterms:created>
  <dcterms:modified xsi:type="dcterms:W3CDTF">2026-09-17T18:53:32Z</dcterms:modified>
</cp:coreProperties>
</file>