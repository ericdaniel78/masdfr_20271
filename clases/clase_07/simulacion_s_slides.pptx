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s7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2514600"/>
            <a:ext cx="361188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7091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completa de 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 · CIERRE DEL TEMA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7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Simulación de la pérdida agregada 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dos momentos a la distribución completa de S — y de ahí, a la prima.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 es una suma de tamaño aleatorio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especial al problema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0" y="2148840"/>
            <a:ext cx="6675120" cy="1280160"/>
          </a:xfrm>
          <a:prstGeom prst="roundRect">
            <a:avLst>
              <a:gd name="adj" fmla="val 5714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7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688" y="2514600"/>
            <a:ext cx="3772432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7490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es la pérdida agregada de la cartera: la suma de los montos de todos los siniestros.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sumandos N es aleatorio (frecuencia) y cada sumando Xᵢ es aleatorio (severidad).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DOBLE aleatoriedad —cuántos y cuánto— es la que define a S y la que hay que propagar.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dónde salen E[S] y Var[S]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fórmulas mágicas: salen de la doble aleatoriedad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media</a:t>
            </a:r>
            <a:endParaRPr lang="en-US" sz="1800" dirty="0"/>
          </a:p>
        </p:txBody>
      </p:sp>
      <p:pic>
        <p:nvPicPr>
          <p:cNvPr id="7" name="Image 0" descr="s7_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2296" y="2377440"/>
            <a:ext cx="2424223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08960"/>
            <a:ext cx="4983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promedio esperas E[N] siniestros, y cada uno cuesta en promedio E[X].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promedio de una suma de tamaño aleatorio se separa en “cuántos × cuánto” (identidad de Wald).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varianza</a:t>
            </a:r>
            <a:endParaRPr lang="en-US" sz="1800" dirty="0"/>
          </a:p>
        </p:txBody>
      </p:sp>
      <p:pic>
        <p:nvPicPr>
          <p:cNvPr id="11" name="Image 1" descr="s7_varla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063" y="2331720"/>
            <a:ext cx="4029249" cy="384048"/>
          </a:xfrm>
          <a:prstGeom prst="rect">
            <a:avLst/>
          </a:prstGeom>
        </p:spPr>
      </p:pic>
      <p:pic>
        <p:nvPicPr>
          <p:cNvPr id="12" name="Image 2" descr="s7_Va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265" y="2880360"/>
            <a:ext cx="3792846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3474720"/>
            <a:ext cx="4983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fuentes: la variabilidad de los montos (aun con N fijo) y la del conteo (a veces 2 siniestros, a veces 8).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ley de varianza total: promedio de la varianza + varianza del promedio.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prima es una esperanza… pero no basta la media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queremos la distribución completa de 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0" y="160020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7_pri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9555" y="1874520"/>
            <a:ext cx="2660698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pura es E[S]: un solo número, la media de S.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el recargo de seguridad (T2) depende de la variabilidad y la cola de S, no de su media.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las coberturas con deducible o límite se tarifican como esperanzas sobre la distribución de S: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463040" y="4709160"/>
            <a:ext cx="9235440" cy="960120"/>
          </a:xfrm>
          <a:prstGeom prst="roundRect">
            <a:avLst>
              <a:gd name="adj" fmla="val 7619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s7_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006" y="4983480"/>
            <a:ext cx="4771796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 esto necesitas la distribución de S, no solo E[S].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Tres caminos a la distribución de 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 vamos por la simulación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639312" cy="3200400"/>
          </a:xfrm>
          <a:prstGeom prst="roundRect">
            <a:avLst>
              <a:gd name="adj" fmla="val 228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65960"/>
            <a:ext cx="3639312" cy="640080"/>
          </a:xfrm>
          <a:prstGeom prst="roundRect">
            <a:avLst>
              <a:gd name="adj" fmla="val 11429"/>
            </a:avLst>
          </a:prstGeom>
          <a:solidFill>
            <a:srgbClr val="8FA0C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65960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Convolución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90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analítico “exacto”; pesado y poco práctico.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480560"/>
            <a:ext cx="2724912" cy="457200"/>
          </a:xfrm>
          <a:prstGeom prst="rect">
            <a:avLst>
              <a:gd name="adj" fmla="val 12000"/>
            </a:avLst>
          </a:prstGeom>
          <a:solidFill>
            <a:srgbClr val="263B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mención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6552" y="1965960"/>
            <a:ext cx="3639312" cy="3200400"/>
          </a:xfrm>
          <a:prstGeom prst="roundRect">
            <a:avLst>
              <a:gd name="adj" fmla="val 228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965960"/>
            <a:ext cx="3639312" cy="640080"/>
          </a:xfrm>
          <a:prstGeom prst="roundRect">
            <a:avLst>
              <a:gd name="adj" fmla="val 11429"/>
            </a:avLst>
          </a:prstGeom>
          <a:solidFill>
            <a:srgbClr val="8FA0C8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1965960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Panjer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90872" y="2834640"/>
            <a:ext cx="3090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recursión clásica sin simular; elegante pero muy técnica.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73752" y="4480560"/>
            <a:ext cx="2724912" cy="457200"/>
          </a:xfrm>
          <a:prstGeom prst="rect">
            <a:avLst>
              <a:gd name="adj" fmla="val 12000"/>
            </a:avLst>
          </a:prstGeom>
          <a:solidFill>
            <a:srgbClr val="263B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mención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30184" y="1965960"/>
            <a:ext cx="3639312" cy="3200400"/>
          </a:xfrm>
          <a:prstGeom prst="roundRect">
            <a:avLst>
              <a:gd name="adj" fmla="val 228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1965960"/>
            <a:ext cx="3639312" cy="640080"/>
          </a:xfrm>
          <a:prstGeom prst="roundRect">
            <a:avLst>
              <a:gd name="adj" fmla="val 11429"/>
            </a:avLst>
          </a:prstGeom>
          <a:solidFill>
            <a:srgbClr val="17A69B"/>
          </a:solidFill>
          <a:ln/>
        </p:spPr>
      </p:sp>
      <p:sp>
        <p:nvSpPr>
          <p:cNvPr id="17" name="Text 15"/>
          <p:cNvSpPr/>
          <p:nvPr/>
        </p:nvSpPr>
        <p:spPr>
          <a:xfrm>
            <a:off x="8330184" y="1965960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Simulación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04504" y="2834640"/>
            <a:ext cx="3090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muchas realizaciones de S; es lo que se usa hoy.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87384" y="4480560"/>
            <a:ext cx="2724912" cy="457200"/>
          </a:xfrm>
          <a:prstGeom prst="rect">
            <a:avLst>
              <a:gd name="adj" fmla="val 12000"/>
            </a:avLst>
          </a:prstGeom>
          <a:solidFill>
            <a:srgbClr val="17A69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camino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Convolución y Panjer los dejamos mencionados (para quien quiera leerlos en la bibliografía clásica); construimos S por simulación.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Simulación de Monte Carlo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idea, en una frase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puedes calcular la distribución de S con una fórmula, la construyes a la fuerza bruta.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Generas MUCHAS realizaciones del riesgo (miles o cientos de miles de “años” posibles de la cartera).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realización te da un valor de S; el conjunto de todos ellos ES la distribución empírica de S.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esa distribución sacas media, cuantiles, probabilidad de ruina — todo lo que la fórmula no te daba.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modelo colectivo, simulado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que corre el notebook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6400800" cy="3977640"/>
          </a:xfrm>
          <a:prstGeom prst="roundRect">
            <a:avLst>
              <a:gd name="adj" fmla="val 1839"/>
            </a:avLst>
          </a:prstGeom>
          <a:solidFill>
            <a:srgbClr val="0A1428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una de las M simulaciones: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852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simula N  ~  frecuencia (Poisson / Bin. neg.)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simula N severidades  X₁,…,Xₙ  ~  severidad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Sₘ = X₁ + … + Xₙ   (una realización de S)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7A6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guarda Sₘ  y  repite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las M realizaciones son la distribución de 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86600" y="182880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al paso clave: N es aleatorio, así que cada simulación suma un número distinto de severidades.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= 0, esa simulación da S = 0 (una póliza/año sin siniestros).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 grande, la distribución empírica se acerca a la verdadera.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distribución empírica de 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la validamos</a:t>
            </a:r>
            <a:endParaRPr lang="en-US" sz="1500" dirty="0"/>
          </a:p>
        </p:txBody>
      </p:sp>
      <p:pic>
        <p:nvPicPr>
          <p:cNvPr id="5" name="Image 0" descr="s7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4938222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histograma de las S simuladas muestra la forma: sesgada a la derecha, con cola.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1: la media de las S simuladas debe coincidir con E[S] = E[N]·E[X] de la Sesión 5.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2: su varianza debe coincidir con la fórmula de Var[S].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cuadran, la simulación es confiable; si no, hay un error en el código o en los supuestos.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Cuantiles de S: VaR y TVaR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la media no te dice</a:t>
            </a:r>
            <a:endParaRPr lang="en-US" sz="1500" dirty="0"/>
          </a:p>
        </p:txBody>
      </p:sp>
      <p:pic>
        <p:nvPicPr>
          <p:cNvPr id="5" name="Image 0" descr="s7_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091315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S simuladas, el VaR y el TVaR son simplemente percentiles empíricos (p. ej. el 99%).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Sirven para fijar el recargo de seguridad y el nivel de suficiencia de la prima.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de frecuencia importa: con binomial negativa (sobredispersa), la cola de S es más gorda y el VaR sube.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media E[S], pero distinto riesgo en la cola → distinto precio.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¿Cuántas simulaciones bastan?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de simulación</a:t>
            </a:r>
            <a:endParaRPr lang="en-US" sz="1500" dirty="0"/>
          </a:p>
        </p:txBody>
      </p:sp>
      <p:pic>
        <p:nvPicPr>
          <p:cNvPr id="5" name="Image 0" descr="s7_co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507960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es aproximada: con pocas repeticiones, la estimación baila.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aumentar M, la estimación se estabiliza alrededor del valor verdadero (aquí, E[S]).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subir M hasta que el resultado deje de moverse de forma apreciable.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cuantiles de la cola (VaR99) necesitan más simulaciones que la media para estabilizarse.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3 · Sesión 7 — Simulación de 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Cómo se amarra con tu proyecto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385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Práctica A1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0" y="193852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ajustas la severidad y la frecuencia de la cartera de tu ramo.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17296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7 (hoy)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0" y="317296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 esas dos y SIMULAS S: la pérdida agregada de tu cartera.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4074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Práctica A2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0" y="4407408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 simulada obtienes la prima pura E[S] y el efecto del recargo y de deducible/límite.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del producto sale de S. (El Stop-Loss sobre S es un caso más — lo verá el Tema 5, con el adjunto.)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2026-09-01T23:20:11Z</dcterms:created>
  <dcterms:modified xsi:type="dcterms:W3CDTF">2026-09-01T23:20:11Z</dcterms:modified>
</cp:coreProperties>
</file>