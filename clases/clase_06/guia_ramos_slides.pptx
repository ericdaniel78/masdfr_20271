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64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terreno de tu proyecto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ASINCRÓNICA · PROYECTO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6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Guía de ramos de daños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Revísala a tu ritmo. Al final, tu equipo elige el ramo del proyecto — y con eso te asigno tu cartera.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es un ramo y por qué importa elegir bien?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ramo define la forma del riesgo que vas a modelar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ramo es una categoría de seguro de daños: autos, incendio, transporte, etc. Cada uno cubre riesgos distintos.</a:t>
            </a:r>
            <a:endParaRPr lang="en-US" sz="16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ramo fija la escala y la cola de la severidad: un rayón de auto y un incendio industrial no viven en el mismo rango.</a:t>
            </a:r>
            <a:endParaRPr lang="en-US" sz="16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fija la frecuencia: autos tiene muchos siniestros chicos; catastróficos, poquísimos pero enormes.</a:t>
            </a:r>
            <a:endParaRPr lang="en-US" sz="16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bien tu ramo es elegir qué distribuciones tendrán sentido y qué tan importante será el reaseguro.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leer la ficha de cada ramo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hacemos las mismas tres preguntas a todos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39312" cy="3108960"/>
          </a:xfrm>
          <a:prstGeom prst="roundRect">
            <a:avLst>
              <a:gd name="adj" fmla="val 205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5376" y="2240280"/>
            <a:ext cx="914400" cy="9144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1865376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cubre?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 del ramo y qué siniestros protege.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920240"/>
            <a:ext cx="3639312" cy="3108960"/>
          </a:xfrm>
          <a:prstGeom prst="roundRect">
            <a:avLst>
              <a:gd name="adj" fmla="val 205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9008" y="2240280"/>
            <a:ext cx="914400" cy="91440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12" name="Text 10"/>
          <p:cNvSpPr/>
          <p:nvPr/>
        </p:nvSpPr>
        <p:spPr>
          <a:xfrm>
            <a:off x="5779008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16552" y="333756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¿Cómo se ve su riesgo?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38404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 (rango y cola) y de frecuencia.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30184" y="1920240"/>
            <a:ext cx="3639312" cy="3108960"/>
          </a:xfrm>
          <a:prstGeom prst="roundRect">
            <a:avLst>
              <a:gd name="adj" fmla="val 205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0" y="2240280"/>
            <a:ext cx="914400" cy="914400"/>
          </a:xfrm>
          <a:prstGeom prst="ellipse">
            <a:avLst/>
          </a:prstGeom>
          <a:solidFill>
            <a:srgbClr val="4C7FD1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0184" y="333756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¿Cómo se modela?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50224" y="38404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 y cifras de mercado (CNSF/SESA).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Las cifras de mercado, en corto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significan y de dónde salen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Frecuencia: siniestros por póliza (o por unidad de exposición) en un año. Alta en autos, baja en incendio.</a:t>
            </a:r>
            <a:endParaRPr lang="en-US" sz="15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(costo medio): cuánto cuesta, en promedio, cada siniestro. Baja en autos, muy alta en incendio o catastróficos.</a:t>
            </a:r>
            <a:endParaRPr lang="en-US" sz="15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siniestralidad: siniestros ÷ primas. Mide qué parte de la prima se va en pagar siniestros.</a:t>
            </a:r>
            <a:endParaRPr lang="en-US" sz="15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públicas: CNSF (Sistema Estadístico SESA y datos.gob.mx) y AMIS. Cada cifra de esta guía trae su fuente.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trae su fuente (CNSF/AMIS). Las que se indican como “referencia ilustrativa” son órdenes de magnitud del ramo, no cifras oficiales: sirven para dimensionar, y las exactas se consultan en CNSF/SESA.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Automóviles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al vehículo y a terceros por accidente, robo y responsabilidad civil.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civil (daños a terceros)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materiales al vehículo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total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médicos a ocupantes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vial y legal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Deducible en daños materiales (% de la suma asegurada); RC con límite; coaseguro poco usual.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moderados pero muy dispersos: desde un rayón hasta pérdida total o una RC grave. Cola media.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alta de daños: muchos siniestros pequeños al año. Suele haber sobredispersión por segmentación.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 / gamma.  Frecuencia: Poisson o binomial negativa (con exposición).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siniestralidad del mercado ≈ 63% (CNSF, Análisis Estadístico de Autos 2022). ~31% de los autos que circulan están asegurados (SESA Autos 2023, AMIS). Autos ≈ 55% de la operación de Daños.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Incendio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materiales a inmuebles y contenidos por incendio, rayo y explosión.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Incendio, rayo y explosión (básica)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Extensión: huelgas y alborotos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Fenómenos hidrometeorológicos (extensión)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espontánea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asegurada = valor del inmueble/contenido; deducible y coaseguro frecuentes; reaseguro clave por la cola.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de cola pesada: un incendio puede ser pérdida total. Pocos siniestros muy caros.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Baja: la mayoría de las pólizas no reclama en el año.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 / Pareto (cola pesada).  Frecuencia: Poisson.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por incendio: 12,061 M de pesos en ene–jun 2025 (+43% vs. 2024) y +157% en dos años; representaron cerca de la mitad de los pagos de daños sin autos (24,212 M en el 1.er sem. 2025) (AMIS, 2025).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Responsabilidad civil y riesgos profesionales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a terceros de los que el asegurado es legalmente responsable.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general (a terceros)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profesional (errores y omisiones)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productos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a personas y a bienes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por evento y agregados; reaseguro de exceso de pérdida clave; su cola larga pesa en las reservas (IBNR).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variable y de cola pesada: demandas grandes y daños corporales. Es un riesgo de cola larga (se paga años después).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 media.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 / Pareto.  Frecuencia: Poisson / binomial negativa.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frecuencia baja y severidad alta de cola larga; índice de siniestralidad típico ~40–60%. Cifras oficiales del subramo en CNSF/SESA (datos.gob.mx).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Marítimo y transportes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Mercancías en tránsito y cascos de embarcaciones y aeronaves.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de mercancías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Cascos de embarcaciones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Cascos de aeronaves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Avería, robo y pérdida en tránsito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aseguradas altas; reaseguro facultativo y proporcional habitual.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variable: una carga o un casco pueden valer muchísimo. Cola pesada.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 / Pareto.  Frecuencia: Poisson.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severidad alta y frecuencia baja; siniestralidad ~45–65%, muy sensible a siniestros grandes de cascos y cargas. Cifras oficiales en CNSF/SESA.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Agrícola y de animales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 y ganado ante clima, plagas, enfermedad o muerte.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Agrícola (riesgo climático)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 y animales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Muerte y enfermedad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paramétricas (clima)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dependencia entre pólizas → reaseguro y coberturas paramétricas.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Variable, con fuerte acumulación: una sequía o helada afecta a muchas pólizas a la vez.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Baja, pero con cúmulos (eventos climáticos catastróficos).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 / gamma.  Frecuencia: binomial negativa (sobredispersión por cúmulos).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siniestralidad muy volátil por clima (puede superar 100% en un año catastrófico y ser baja en años normales); frecuencia baja con cúmulos. Cifras oficiales en CNSF/SESA.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Crédito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de pago de deudores (crédito comercial y a la vivienda).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interno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 la exportación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 la vivienda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financiera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dependencia macroeconómica; selección de riesgos y reaseguro importantes.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 al monto del crédito; correlacionada con el ciclo económico.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en expansión, sube en recesión: tiene componente sistémico.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lognormal.  Frecuencia: sensible al ciclo (mezclas / sobredispersión).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siniestralidad cíclica —baja en expansión, alta en recesión—, del orden de 30–60% según el ciclo económico. Cifras oficiales en CNSF/SESA.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Caución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que un obligado cumplirá una obligación (afín a las fianzas).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uso de anticipo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calidad / vicios ocultos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ante terceros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recobro/subrogación es central; se modela muy parecido a fianzas (Tema 4).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 al monto garantizado; puede recuperarse por subrogación tras el pago.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lognormal.  Frecuencia: Poisson.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frecuencia baja y siniestralidad baja gracias al recobro/subrogación (a menudo por debajo de 30%). Cifras oficiales en CNSF/SESA.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Diversos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técnicos varios: maquinaria, equipo electrónico, obra y montaje.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Rotura de maquinaria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electrónico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Calderas y aparatos a presión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montaje (obra)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contratistas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asegurada por bien; deducibles frecuentes.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según el bien; puede ser alta en maquinaria y obra civil.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 media.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lognormal / gamma.  Frecuencia: Poisson.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siniestralidad moderada ~40–60% según el subramo (maquinaria, electrónico, obra). Cifras oficiales en CNSF (CEER y construcción/montaje).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Riesgos catastróficos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Terremoto y fenómenos hidrometeorológicos (huracán, inundación).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Terremoto y erupción volcánica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Huracán y viento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Inundación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de la naturaleza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reaseguro catastrófico y la reserva de riesgos catastróficos (CUSF) son el centro del ramo.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Extrema, cola muy pesada y con acumulación masiva: un solo evento afecta a toda una región.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baja, pero con impacto sistémico sobre toda la cartera.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catastróficos y de valores extremos (EVT): la lognormal sola no basta.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Sismos: 276 M de pesos pagados en ene–jun 2025; la industria pagó ~7,000 M por sismos en 2019–2020 y registró ~7,300 siniestros de sismo en cinco años; Otis (2023) marcó la magnitud del riesgo (AMIS, 2025).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Hogar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residencial: combina incendio, RC, robo y diversos sobre la casa y su contenido.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comunes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 y aliados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civil familiar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contenidos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Cristales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Fenómenos naturales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13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056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producto multicobertura (paquete): conviene modelar cada cobertura por separado.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727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severidad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5166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Mezcla: la mayoría de los siniestros son moderados, con una cola por incendio o catástrofe.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532120" cy="1078992"/>
          </a:xfrm>
          <a:prstGeom prst="roundRect">
            <a:avLst>
              <a:gd name="adj" fmla="val 593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852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frecuencia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4553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 media.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32120" cy="1325880"/>
          </a:xfrm>
          <a:prstGeom prst="roundRect">
            <a:avLst>
              <a:gd name="adj" fmla="val 482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0416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típicas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modela por sub-cobertura; severidad lognormal con un componente de cola.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 </a:t>
            </a:r>
            <a:pPr indent="0" marL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ilustrativa (orden de magnitud): frecuencia baja-media y severidad moderada con cola por incendio/robo; siniestralidad ~30–50%. En CNSF/SESA el hogar suele reportarse dentro de incendio, RC y diversos.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un vistazo: comparativa de ramos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 según la forma del riesgo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2606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600200"/>
            <a:ext cx="1600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16002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600200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6002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1600200"/>
            <a:ext cx="1600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60020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sugerida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0574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" y="20574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Automóviles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20574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55848" y="20574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83480" y="20574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93208" y="20574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20574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7688" y="20574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75320" y="20574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85048" y="20574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+ Poisson/NB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25146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" y="25146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Incendio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25146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55848" y="25146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83480" y="25146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93208" y="25146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pesada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25146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47688" y="25146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75320" y="25146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85048" y="25146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lognormal/Pareto + Poisson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29718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" y="29718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Resp. civil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46120" y="29718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55848" y="29718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variable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83480" y="29718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93208" y="29718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pesada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37960" y="29718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47688" y="29718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baja-media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275320" y="29718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385048" y="29718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lognormal/Pareto + Poisson/NB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34290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2648" y="34290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Marítimo/transp.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46120" y="34290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355848" y="34290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983480" y="34290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93208" y="34290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pesada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537960" y="34290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647688" y="34290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275320" y="34290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385048" y="34290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lognormal/Pareto + Poisson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02920" y="38862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12648" y="38862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Agrícola/animales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246120" y="38862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55848" y="38862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983480" y="38862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093208" y="38862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cúmulos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537960" y="38862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647688" y="38862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baja+cúmulo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275320" y="38862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385048" y="38862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+ binomial negativa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02920" y="43434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12648" y="43434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Crédito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246120" y="43434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355848" y="43434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983480" y="43434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093208" y="43434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537960" y="43434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647688" y="43434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cíclica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8275320" y="43434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8385048" y="43434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+ mezclas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502920" y="48006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12648" y="48006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Caución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3246120" y="48006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355848" y="48006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983480" y="48006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093208" y="48006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6537960" y="48006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647688" y="48006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8275320" y="48006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8385048" y="48006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+ Poisson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502920" y="52578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12648" y="52578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Diversos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3246120" y="52578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355848" y="52578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4983480" y="52578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5093208" y="52578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6537960" y="52578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647688" y="52578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baja-media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8275320" y="52578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8385048" y="52578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lognormal/gamma + Poisson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502920" y="57150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12648" y="57150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Catastróficos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3246120" y="57150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3355848" y="57150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4983480" y="57150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5093208" y="57150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pesada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6537960" y="57150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6647688" y="57150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baja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8275320" y="57150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385048" y="57150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extremos (EVT)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502920" y="6172200"/>
            <a:ext cx="27432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612648" y="6172200"/>
            <a:ext cx="25786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Hogar</a:t>
            </a:r>
            <a:endParaRPr lang="en-US" sz="1150" dirty="0"/>
          </a:p>
        </p:txBody>
      </p:sp>
      <p:sp>
        <p:nvSpPr>
          <p:cNvPr id="107" name="Shape 105"/>
          <p:cNvSpPr/>
          <p:nvPr/>
        </p:nvSpPr>
        <p:spPr>
          <a:xfrm>
            <a:off x="3246120" y="61722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3355848" y="61722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mixta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4983480" y="6172200"/>
            <a:ext cx="155448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5093208" y="6172200"/>
            <a:ext cx="13898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6537960" y="6172200"/>
            <a:ext cx="173736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6647688" y="617220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baja-media</a:t>
            </a:r>
            <a:endParaRPr lang="en-US" sz="1150" dirty="0"/>
          </a:p>
        </p:txBody>
      </p:sp>
      <p:sp>
        <p:nvSpPr>
          <p:cNvPr id="113" name="Shape 111"/>
          <p:cNvSpPr/>
          <p:nvPr/>
        </p:nvSpPr>
        <p:spPr>
          <a:xfrm>
            <a:off x="8275320" y="6172200"/>
            <a:ext cx="3429000" cy="429768"/>
          </a:xfrm>
          <a:prstGeom prst="roundRect">
            <a:avLst>
              <a:gd name="adj" fmla="val 1489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8385048" y="6172200"/>
            <a:ext cx="32644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cobertura (lognormal)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Cierre: elige el ramo de tu equipo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tienen que hacer hoy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201400" cy="1874520"/>
          </a:xfrm>
          <a:prstGeom prst="roundRect">
            <a:avLst>
              <a:gd name="adj" fmla="val 341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(una sola vez por equipo)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 a la misma hoja de Google de Classroom donde registraron su equipo (o donde ya se les asignó uno).</a:t>
            </a:r>
            <a:endParaRPr lang="en-US" sz="13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Anoten el ramo de daños que van a trabajar. Los ramos pueden repetirse entre equipos.</a:t>
            </a:r>
            <a:endParaRPr lang="en-US" sz="13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límite: hoy antes de las 23:59. Si no eligen, se les asignará un ramo.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11201400" cy="1554480"/>
          </a:xfrm>
          <a:prstGeom prst="roundRect">
            <a:avLst>
              <a:gd name="adj" fmla="val 41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657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respondan dos preguntas breves (introducción)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les interesó ese ramo?</a:t>
            </a:r>
            <a:endParaRPr lang="en-US" sz="13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coberturas quieren trabajar en su producto?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521208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elección les asignaré una cartera realista de ese ramo, a la que tendrán que ajustarle la severidad y la frecuencia (Práctica 1).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6 (asincrónica) — Guía de ramos de daños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2026-09-01T00:59:05Z</dcterms:created>
  <dcterms:modified xsi:type="dcterms:W3CDTF">2026-09-01T00:59:05Z</dcterms:modified>
</cp:coreProperties>
</file>