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777240"/>
            <a:ext cx="3886200" cy="5257800"/>
          </a:xfrm>
          <a:prstGeom prst="roundRect">
            <a:avLst>
              <a:gd name="adj" fmla="val 1882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curv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331720"/>
            <a:ext cx="3337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46177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primas distintas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— CÁLCULO DE PRIMAS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10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21792" y="237744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la prima pura a la prima comercial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Actuariales para Seguro de Daños, Fianzas y Reaseguro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escalones: primero la prima técnica (lo que el actuario justifica), luego la comercial (lo que se cobra).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· UNAM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Dónde estamos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pura, ya ajustada, es solo el primer piso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0" y="2057400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s10_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5995" y="2331720"/>
            <a:ext cx="494781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8328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la prima pura de su ramo, E[S], y en la Sesión 9 la ajustaron por inflación y devaluación.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eso todavía NO es el precio: cubre el siniestro esperado y nada más.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subimos dos escalones: la prima TÉCNICA (con recargos) y la prima COMERCIAL (con criterio de mercado).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10 — De la prima pura a la prima comercial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Dos primas distintas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de toda la sesión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37360"/>
            <a:ext cx="5532120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37360"/>
            <a:ext cx="5532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Prima técnica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5029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del análisis actuarial: prima pura + recargos.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pieza tiene sustento y se puede defender.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se justifica y documenta en la NOTA TÉCNICA que se registra ante la CNSF.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737360"/>
            <a:ext cx="5532120" cy="658368"/>
          </a:xfrm>
          <a:prstGeom prst="roundRect">
            <a:avLst>
              <a:gd name="adj" fmla="val 11111"/>
            </a:avLst>
          </a:prstGeom>
          <a:solidFill>
            <a:srgbClr val="E8873C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737360"/>
            <a:ext cx="5532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Prima comercial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46520" y="2606040"/>
            <a:ext cx="5029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técnica ajustada por criterio de mercado.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por competencia/apetito y recargos por pago fraccionado.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decisión de negocio: la empresa puede o no aplicarla, y puede alejarse del número técnico.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10 — De la prima pura a la prima comercial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Prima técnica (1): gastos, comisiones y dividendos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cuesta operar el producto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0" y="1600200"/>
            <a:ext cx="6675120" cy="1737360"/>
          </a:xfrm>
          <a:prstGeom prst="roundRect">
            <a:avLst>
              <a:gd name="adj" fmla="val 4211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s10_t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523" y="1874520"/>
            <a:ext cx="3126762" cy="640080"/>
          </a:xfrm>
          <a:prstGeom prst="rect">
            <a:avLst/>
          </a:prstGeom>
        </p:spPr>
      </p:pic>
      <p:pic>
        <p:nvPicPr>
          <p:cNvPr id="7" name="Image 1" descr="s10_g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902" y="2788920"/>
            <a:ext cx="5000003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361188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 operación: lo que cuesta administrar la póliza (emisión, sistemas, personal).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Comisiones: lo que se paga al agente o canal de venta.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Dividendos: la devolución esperada al asegurado (cuando el producto la contempla).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expresan como % de la prima y “inflan” la prima pura para cubrirlos.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10 — De la prima pura a la prima comercial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Prima técnica (2): IBNR y reaseguro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costos que también carga la prima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532120" cy="3291840"/>
          </a:xfrm>
          <a:prstGeom prst="roundRect">
            <a:avLst>
              <a:gd name="adj" fmla="val 222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7F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Costo de IBNR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siniestros ocurridos y aún no reportados. Si tarificas solo con lo reportado, subestimas: hay que cargar ese faltante.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4480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Tema 3 (reservas)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532120" cy="3291840"/>
          </a:xfrm>
          <a:prstGeom prst="roundRect">
            <a:avLst>
              <a:gd name="adj" fmla="val 222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50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Costo de reaseguro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6060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 la cola a un reasegurador cuesta una prima cedida. Ese costo entra en el precio del producto.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0" y="4480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Tema 5 (reaseguro)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solo los nombramos como componentes de la prima técnica; su cálculo vive en los tracks de reservas y reaseguro.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10 — De la prima pura a la prima comercial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Prima técnica (3): margen técnico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qué implica la nota técnica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675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Recargo de seguridad: un colchón por la variabilidad del riesgo (la cola de S que ya vieron).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Utilidad: el margen de ganancia objetivo de la compañía.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 se cierra la prima técnica: prima pura + gastos + IBNR + reaseguro + margen.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543800" y="1783080"/>
            <a:ext cx="4160520" cy="3840480"/>
          </a:xfrm>
          <a:prstGeom prst="roundRect">
            <a:avLst>
              <a:gd name="adj" fmla="val 1905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43800" y="1965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implica la nota técnica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18120" y="2423160"/>
            <a:ext cx="3611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técnica y CADA uno de sus componentes es lo que se documenta y justifica en la nota técnica.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recargo lleva su valor, su método y su fuente.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CNSF valida la técnica, no el precio comercial: por eso la frontera importa.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10 — De la prima pura a la prima comercial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Prima comercial (1): el mercado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por elasticidad y apetito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1064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técnico es el “piso”; el precio que se cobra puede moverse por el mercado.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 de precio: si el cliente es sensible al precio, un descuento retiene o gana cartera.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Apetito / competencia: la empresa puede bajar el precio para crecer en un segmento, o subirlo donde no quiere crecer.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decisión COMERCIAL, no actuarial: puede quedar por debajo del precio técnico (y eso es un riesgo consciente).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10 — De la prima pura a la prima comercial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Prima comercial (2): pago fraccionado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recargo por pagar en parcialidades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08960" y="1645920"/>
            <a:ext cx="5943600" cy="1143000"/>
          </a:xfrm>
          <a:prstGeom prst="roundRect">
            <a:avLst>
              <a:gd name="adj" fmla="val 6400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s10_fr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7460" y="1874520"/>
            <a:ext cx="4204887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7180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cliente paga en n exhibiciones (mensual, trimestral) en vez de una sola, la aseguradora financia ese diferimiento.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se aplica un recargo por pago fraccionado: pagar a plazos cuesta un poco más que de contado.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todas las empresas lo ofrecen igual; es parte de la oferta comercial del producto.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10 — De la prima pura a la prima comercial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frontera: actuario y comercial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termina un trabajo y empieza el otro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actuario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y justifica la prima técnica.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cada supuesto en la nota técnica.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suficiencia: que el precio cubra el riesgo.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8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área comercial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0" y="274320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el precio de venta según el mercado.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descuentos y define el fraccionamiento.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Asume el riesgo de negocio de alejarse del técnico.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5257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la prima comercial puede bajar del precio técnico, pero esa diferencia es una decisión de negocio consciente — no un error de cálculo.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10 — De la prima pura a la prima comercial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recibo: cómo se documenta todo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prima pura al número que paga el cliente</a:t>
            </a:r>
            <a:endParaRPr lang="en-US" sz="1500" dirty="0"/>
          </a:p>
        </p:txBody>
      </p:sp>
      <p:pic>
        <p:nvPicPr>
          <p:cNvPr id="5" name="Image 0" descr="s10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444158" cy="3977640"/>
          </a:xfrm>
          <a:prstGeom prst="rect">
            <a:avLst/>
          </a:prstGeom>
        </p:spPr>
      </p:pic>
      <p:pic>
        <p:nvPicPr>
          <p:cNvPr id="6" name="Image 1" descr="s10_recib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5294031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0" y="23774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recibo es el desglose visible de todo lo que construimos, capa por capa.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técnica (verde): prima pura → +recargos → prima técnica. Es lo que va en la nota técnica.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comercial (naranja): −descuento de mercado, +recargo por fraccionamiento.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fiscal: + derechos de póliza e IVA → prima total del recibo.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10 — De la prima pura a la prima comercial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que sigue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8483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 el notebook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Armamos el recibo capa por capa: de la prima pura ajustada a la prima total, y lo documentamos como una tabla-recibo con cada supuesto.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0116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E8873C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08483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Idea que se llevan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29260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DOS primas: la técnica (que el actuario justifica en la nota técnica) y la comercial (decisión de negocio). Saber dónde está la frontera.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Facultad de Ciencias, UNAM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2026-09-28T03:57:06Z</dcterms:created>
  <dcterms:modified xsi:type="dcterms:W3CDTF">2026-09-28T03:57:06Z</dcterms:modified>
</cp:coreProperties>
</file>