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" name="Shape 1"/>
          <p:cNvSpPr/>
          <p:nvPr/>
        </p:nvSpPr>
        <p:spPr>
          <a:xfrm>
            <a:off x="7818120" y="777240"/>
            <a:ext cx="3886200" cy="5257800"/>
          </a:xfrm>
          <a:prstGeom prst="roundRect">
            <a:avLst>
              <a:gd name="adj" fmla="val 1882"/>
            </a:avLst>
          </a:prstGeom>
          <a:solidFill>
            <a:srgbClr val="263B6E"/>
          </a:solidFill>
          <a:ln/>
          <a:effectLst>
            <a:outerShdw sx="100000" sy="100000" kx="0" ky="0" algn="bl" rotWithShape="0" blurRad="63500" dist="25400" dir="5400000">
              <a:srgbClr val="000000">
                <a:alpha val="32000"/>
              </a:srgbClr>
            </a:outerShdw>
          </a:effectLst>
        </p:spPr>
      </p:sp>
      <p:pic>
        <p:nvPicPr>
          <p:cNvPr id="4" name="Image 0" descr="curve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2331720"/>
            <a:ext cx="3337560" cy="2194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818120" y="461772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como en el trabajo real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40080" y="8229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3 · LOGÍSTICA DEL PROYECTO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94360" y="141732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Sesión 8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621792" y="2377440"/>
            <a:ext cx="7040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A69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Git y entregas: fork + Pull Request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40080" y="31546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Matemáticas Actuariales para Seguro de Daños, Fianzas y Reaseguro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0080" y="416052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van a entregar sus prácticas — y cómo los voy a evaluar.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40080" y="58521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Facultad de Ciencias · UNAM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Qué van a lograr hoy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969264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cosas, y salen de aquí listos para entregar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486400" cy="2651760"/>
          </a:xfrm>
          <a:prstGeom prst="roundRect">
            <a:avLst>
              <a:gd name="adj" fmla="val 2759"/>
            </a:avLst>
          </a:prstGeom>
          <a:solidFill>
            <a:srgbClr val="1C2E56"/>
          </a:solidFill>
          <a:ln/>
          <a:effectLst>
            <a:outerShdw sx="100000" sy="100000" kx="0" ky="0" algn="bl" rotWithShape="0" blurRad="63500" dist="25400" dir="5400000">
              <a:srgbClr val="000000">
                <a:alpha val="3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103120"/>
            <a:ext cx="5486400" cy="658368"/>
          </a:xfrm>
          <a:prstGeom prst="roundRect">
            <a:avLst>
              <a:gd name="adj" fmla="val 11111"/>
            </a:avLst>
          </a:prstGeom>
          <a:solidFill>
            <a:srgbClr val="17A69B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103120"/>
            <a:ext cx="4937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Su flujo de entrega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005840" y="2971800"/>
            <a:ext cx="47548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dejar montado el fork del repo del curso y saber abrir un Pull Request.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0" y="2103120"/>
            <a:ext cx="5486400" cy="2651760"/>
          </a:xfrm>
          <a:prstGeom prst="roundRect">
            <a:avLst>
              <a:gd name="adj" fmla="val 2759"/>
            </a:avLst>
          </a:prstGeom>
          <a:solidFill>
            <a:srgbClr val="1C2E56"/>
          </a:solidFill>
          <a:ln/>
          <a:effectLst>
            <a:outerShdw sx="100000" sy="100000" kx="0" ky="0" algn="bl" rotWithShape="0" blurRad="63500" dist="25400" dir="5400000">
              <a:srgbClr val="000000">
                <a:alpha val="3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0" y="2103120"/>
            <a:ext cx="5486400" cy="658368"/>
          </a:xfrm>
          <a:prstGeom prst="roundRect">
            <a:avLst>
              <a:gd name="adj" fmla="val 11111"/>
            </a:avLst>
          </a:prstGeom>
          <a:solidFill>
            <a:srgbClr val="E8873C"/>
          </a:solidFill>
          <a:ln/>
        </p:spPr>
      </p:sp>
      <p:sp>
        <p:nvSpPr>
          <p:cNvPr id="11" name="Text 9"/>
          <p:cNvSpPr/>
          <p:nvPr/>
        </p:nvSpPr>
        <p:spPr>
          <a:xfrm>
            <a:off x="6720840" y="2103120"/>
            <a:ext cx="4937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La rúbrica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766560" y="2971800"/>
            <a:ext cx="47548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conocer con qué criterios voy a evaluar cada práctica, para que sepan qué se espera.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2920" y="6455664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MASDFR · Semana 3 · Sesión 8 — Git y entregas (fork + PR)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Repaso relámpago de Git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969264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ya montaron en la Sesión 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65836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3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repositorio guarda tu proyecto y su historial de cambios.</a:t>
            </a:r>
            <a:endParaRPr lang="en-US" sz="1600" dirty="0"/>
          </a:p>
          <a:p>
            <a:pPr marL="177800" indent="-177800">
              <a:lnSpc>
                <a:spcPct val="103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ciclo de trabajo: editas → git add (marcas) → git commit (guardas un punto) → git push (subes).</a:t>
            </a:r>
            <a:endParaRPr lang="en-US" sz="1600" dirty="0"/>
          </a:p>
          <a:p>
            <a:pPr marL="177800" indent="-177800">
              <a:lnSpc>
                <a:spcPct val="103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pull trae lo último del repositorio remoto antes de empezar.</a:t>
            </a:r>
            <a:endParaRPr lang="en-US" sz="1600" dirty="0"/>
          </a:p>
          <a:p>
            <a:pPr marL="177800" indent="-177800">
              <a:lnSpc>
                <a:spcPct val="103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le sumamos una capa: entregar SIN escribir en el repo del curso — con fork y Pull Request.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452360" y="1920240"/>
            <a:ext cx="4251960" cy="2743200"/>
          </a:xfrm>
          <a:prstGeom prst="roundRect">
            <a:avLst>
              <a:gd name="adj" fmla="val 2667"/>
            </a:avLst>
          </a:prstGeom>
          <a:solidFill>
            <a:srgbClr val="0A1428"/>
          </a:solidFill>
          <a:ln/>
          <a:effectLst>
            <a:outerShdw sx="100000" sy="100000" kx="0" ky="0" algn="bl" rotWithShape="0" blurRad="63500" dist="25400" dir="5400000">
              <a:srgbClr val="000000">
                <a:alpha val="3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680960" y="2048256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F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ciclo básico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80960" y="2450592"/>
            <a:ext cx="379476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7A6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pull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A9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...trabajas...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7A6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.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7A6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"..."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7A6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02920" y="6455664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MASDFR · Semana 3 · Sesión 8 — Git y entregas (fork + PR)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¿Qué es un fork y por qué lo usamos?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969264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copia del repo del curso — no tocas el original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2560320"/>
            <a:ext cx="3017520" cy="1463040"/>
          </a:xfrm>
          <a:prstGeom prst="roundRect">
            <a:avLst>
              <a:gd name="adj" fmla="val 5000"/>
            </a:avLst>
          </a:prstGeom>
          <a:solidFill>
            <a:srgbClr val="1C2E56"/>
          </a:solidFill>
          <a:ln/>
          <a:effectLst>
            <a:outerShdw sx="100000" sy="100000" kx="0" ky="0" algn="bl" rotWithShape="0" blurRad="63500" dist="25400" dir="5400000">
              <a:srgbClr val="000000">
                <a:alpha val="3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7889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Repo del curso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32461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Ericdaniel78/MASDFR_20271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886200" y="2743200"/>
            <a:ext cx="960120" cy="0"/>
          </a:xfrm>
          <a:prstGeom prst="line">
            <a:avLst/>
          </a:prstGeom>
          <a:noFill/>
          <a:ln w="25400">
            <a:solidFill>
              <a:srgbClr val="17A69B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3886200" y="2331720"/>
            <a:ext cx="960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92040" y="2560320"/>
            <a:ext cx="3017520" cy="1463040"/>
          </a:xfrm>
          <a:prstGeom prst="roundRect">
            <a:avLst>
              <a:gd name="adj" fmla="val 5000"/>
            </a:avLst>
          </a:prstGeom>
          <a:solidFill>
            <a:srgbClr val="1C2E56"/>
          </a:solidFill>
          <a:ln/>
          <a:effectLst>
            <a:outerShdw sx="100000" sy="100000" kx="0" ky="0" algn="bl" rotWithShape="0" blurRad="63500" dist="25400" dir="5400000">
              <a:srgbClr val="000000">
                <a:alpha val="3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92040" y="27889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A69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Tu fork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92040" y="32461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TU_USUARIO/MASDFR_20271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955280" y="3566160"/>
            <a:ext cx="960120" cy="0"/>
          </a:xfrm>
          <a:prstGeom prst="line">
            <a:avLst/>
          </a:prstGeom>
          <a:noFill/>
          <a:ln w="25400">
            <a:solidFill>
              <a:srgbClr val="E8873C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7818120" y="365760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E88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961120" y="2560320"/>
            <a:ext cx="2743200" cy="1463040"/>
          </a:xfrm>
          <a:prstGeom prst="roundRect">
            <a:avLst>
              <a:gd name="adj" fmla="val 5000"/>
            </a:avLst>
          </a:prstGeom>
          <a:solidFill>
            <a:srgbClr val="263B6E"/>
          </a:solidFill>
          <a:ln/>
          <a:effectLst>
            <a:outerShdw sx="100000" sy="100000" kx="0" ky="0" algn="bl" rotWithShape="0" blurRad="63500" dist="25400" dir="5400000">
              <a:srgbClr val="000000">
                <a:alpha val="3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961120" y="27889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873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Revisión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961120" y="3246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 reviso y califico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4343400"/>
            <a:ext cx="110642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3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fork es tu copia personal del repo del curso, en tu cuenta de GitHub.</a:t>
            </a:r>
            <a:endParaRPr lang="en-US" sz="1450" dirty="0"/>
          </a:p>
          <a:p>
            <a:pPr marL="177800" indent="-177800">
              <a:lnSpc>
                <a:spcPct val="103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Trabajas en TU fork; el repo del curso queda intacto (nadie lo desordena).</a:t>
            </a:r>
            <a:endParaRPr lang="en-US" sz="1450" dirty="0"/>
          </a:p>
          <a:p>
            <a:pPr marL="177800" indent="-177800">
              <a:lnSpc>
                <a:spcPct val="103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terminas, abres un Pull Request: me “propones” tu entrega, yo la reviso y la califico.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502920" y="6455664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MASDFR · Semana 3 · Sesión 8 — Git y entregas (fork + PR)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El flujo completo, de un vistazo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969264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pasos: los primeros dos, una sola vez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12064" cy="512064"/>
          </a:xfrm>
          <a:prstGeom prst="ellipse">
            <a:avLst/>
          </a:prstGeom>
          <a:solidFill>
            <a:srgbClr val="4C7FD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373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371600" y="1728216"/>
            <a:ext cx="10332720" cy="566928"/>
          </a:xfrm>
          <a:prstGeom prst="roundRect">
            <a:avLst>
              <a:gd name="adj" fmla="val 12903"/>
            </a:avLst>
          </a:prstGeom>
          <a:solidFill>
            <a:srgbClr val="1C2E56"/>
          </a:solidFill>
          <a:ln/>
          <a:effectLst>
            <a:outerShdw sx="100000" sy="100000" kx="0" ky="0" algn="bl" rotWithShape="0" blurRad="63500" dist="25400" dir="5400000">
              <a:srgbClr val="000000">
                <a:alpha val="3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600200" y="1728216"/>
            <a:ext cx="8686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 del repo del curso (en GitHub)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241280" y="1728216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4C7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vez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450592"/>
            <a:ext cx="512064" cy="512064"/>
          </a:xfrm>
          <a:prstGeom prst="ellipse">
            <a:avLst/>
          </a:prstGeom>
          <a:solidFill>
            <a:srgbClr val="4C7FD1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45059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371600" y="2441448"/>
            <a:ext cx="10332720" cy="566928"/>
          </a:xfrm>
          <a:prstGeom prst="roundRect">
            <a:avLst>
              <a:gd name="adj" fmla="val 12903"/>
            </a:avLst>
          </a:prstGeom>
          <a:solidFill>
            <a:srgbClr val="1C2E56"/>
          </a:solidFill>
          <a:ln/>
          <a:effectLst>
            <a:outerShdw sx="100000" sy="100000" kx="0" ky="0" algn="bl" rotWithShape="0" blurRad="63500" dist="25400" dir="5400000">
              <a:srgbClr val="000000">
                <a:alpha val="3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600200" y="2441448"/>
            <a:ext cx="8686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Clona TU fork a tu computadora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241280" y="2441448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4C7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vez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163824"/>
            <a:ext cx="512064" cy="512064"/>
          </a:xfrm>
          <a:prstGeom prst="ellipse">
            <a:avLst/>
          </a:prstGeom>
          <a:solidFill>
            <a:srgbClr val="17A69B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16382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371600" y="3154680"/>
            <a:ext cx="10332720" cy="566928"/>
          </a:xfrm>
          <a:prstGeom prst="roundRect">
            <a:avLst>
              <a:gd name="adj" fmla="val 12903"/>
            </a:avLst>
          </a:prstGeom>
          <a:solidFill>
            <a:srgbClr val="1C2E56"/>
          </a:solidFill>
          <a:ln/>
          <a:effectLst>
            <a:outerShdw sx="100000" sy="100000" kx="0" ky="0" algn="bl" rotWithShape="0" blurRad="63500" dist="25400" dir="5400000">
              <a:srgbClr val="000000">
                <a:alpha val="3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600200" y="3154680"/>
            <a:ext cx="8686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una rama para la práctica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241280" y="3154680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práctica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3877056"/>
            <a:ext cx="512064" cy="512064"/>
          </a:xfrm>
          <a:prstGeom prst="ellipse">
            <a:avLst/>
          </a:prstGeom>
          <a:solidFill>
            <a:srgbClr val="17A69B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87705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1371600" y="3867912"/>
            <a:ext cx="10332720" cy="566928"/>
          </a:xfrm>
          <a:prstGeom prst="roundRect">
            <a:avLst>
              <a:gd name="adj" fmla="val 12903"/>
            </a:avLst>
          </a:prstGeom>
          <a:solidFill>
            <a:srgbClr val="1C2E56"/>
          </a:solidFill>
          <a:ln/>
          <a:effectLst>
            <a:outerShdw sx="100000" sy="100000" kx="0" ky="0" algn="bl" rotWithShape="0" blurRad="63500" dist="25400" dir="5400000">
              <a:srgbClr val="000000">
                <a:alpha val="3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600200" y="3867912"/>
            <a:ext cx="8686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Trabaja, y haz commit de tus cambios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0241280" y="3867912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práctica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" y="4590288"/>
            <a:ext cx="512064" cy="512064"/>
          </a:xfrm>
          <a:prstGeom prst="ellipse">
            <a:avLst/>
          </a:prstGeom>
          <a:solidFill>
            <a:srgbClr val="17A69B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59028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1371600" y="4581144"/>
            <a:ext cx="10332720" cy="566928"/>
          </a:xfrm>
          <a:prstGeom prst="roundRect">
            <a:avLst>
              <a:gd name="adj" fmla="val 12903"/>
            </a:avLst>
          </a:prstGeom>
          <a:solidFill>
            <a:srgbClr val="1C2E56"/>
          </a:solidFill>
          <a:ln/>
          <a:effectLst>
            <a:outerShdw sx="100000" sy="100000" kx="0" ky="0" algn="bl" rotWithShape="0" blurRad="63500" dist="25400" dir="5400000">
              <a:srgbClr val="000000">
                <a:alpha val="3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1600200" y="4581144"/>
            <a:ext cx="8686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a tu fork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0241280" y="4581144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práctica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" y="5303520"/>
            <a:ext cx="512064" cy="512064"/>
          </a:xfrm>
          <a:prstGeom prst="ellipse">
            <a:avLst/>
          </a:prstGeom>
          <a:solidFill>
            <a:srgbClr val="17A69B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530352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1371600" y="5294376"/>
            <a:ext cx="10332720" cy="566928"/>
          </a:xfrm>
          <a:prstGeom prst="roundRect">
            <a:avLst>
              <a:gd name="adj" fmla="val 12903"/>
            </a:avLst>
          </a:prstGeom>
          <a:solidFill>
            <a:srgbClr val="1C2E56"/>
          </a:solidFill>
          <a:ln/>
          <a:effectLst>
            <a:outerShdw sx="100000" sy="100000" kx="0" ky="0" algn="bl" rotWithShape="0" blurRad="63500" dist="25400" dir="5400000">
              <a:srgbClr val="000000">
                <a:alpha val="3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1600200" y="5294376"/>
            <a:ext cx="8686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el Pull Request (en GitHub)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10241280" y="5294376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práctica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02920" y="6455664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MASDFR · Semana 3 · Sesión 8 — Git y entregas (fork + PR)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Paso a paso, con comandos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969264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Anaconda Prompt (o la terminal de VS Code)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5532120" cy="4206240"/>
          </a:xfrm>
          <a:prstGeom prst="roundRect">
            <a:avLst>
              <a:gd name="adj" fmla="val 1739"/>
            </a:avLst>
          </a:prstGeom>
          <a:solidFill>
            <a:srgbClr val="0A1428"/>
          </a:solidFill>
          <a:ln/>
          <a:effectLst>
            <a:outerShdw sx="100000" sy="100000" kx="0" ky="0" algn="bl" rotWithShape="0" blurRad="63500" dist="25400" dir="5400000">
              <a:srgbClr val="000000">
                <a:alpha val="3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728216"/>
            <a:ext cx="5074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F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vez: clonar tu fork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130552"/>
            <a:ext cx="507492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A9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(primero: botón 'Fork' en GitHub)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7A6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\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7A6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https://github.com/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7A6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TU_USUARIO/MASDFR_20271.git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7A6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MASDFR_20271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1600200"/>
            <a:ext cx="5532120" cy="4206240"/>
          </a:xfrm>
          <a:prstGeom prst="roundRect">
            <a:avLst>
              <a:gd name="adj" fmla="val 1739"/>
            </a:avLst>
          </a:prstGeom>
          <a:solidFill>
            <a:srgbClr val="0A1428"/>
          </a:solidFill>
          <a:ln/>
          <a:effectLst>
            <a:outerShdw sx="100000" sy="100000" kx="0" ky="0" algn="bl" rotWithShape="0" blurRad="63500" dist="25400" dir="5400000">
              <a:srgbClr val="000000">
                <a:alpha val="3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0" y="1728216"/>
            <a:ext cx="5074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F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práctica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0" y="2130552"/>
            <a:ext cx="507492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7A6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checkout -b entrega-practica1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A9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...trabajas en tu carpeta...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7A6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.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7A6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"Entrega Práctica 1"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7A6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-u origin \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7A6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entrega-practica1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A9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luego: 'Compare &amp; pull request' en GitHub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6455664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MASDFR · Semana 3 · Sesión 8 — Git y entregas (fork + PR)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El Pull Request: cómo se abre y se atiende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969264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entrega formal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110642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3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 el push, GitHub te muestra un botón “Compare &amp; pull request” en tu fork.</a:t>
            </a:r>
            <a:endParaRPr lang="en-US" sz="1550" dirty="0"/>
          </a:p>
          <a:p>
            <a:pPr marL="177800" indent="-177800">
              <a:lnSpc>
                <a:spcPct val="103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Ábrelo hacia el repo del curso (rama main). Ponle un título claro: “Equipo XX — Práctica 1”.</a:t>
            </a:r>
            <a:endParaRPr lang="en-US" sz="1550" dirty="0"/>
          </a:p>
          <a:p>
            <a:pPr marL="177800" indent="-177800">
              <a:lnSpc>
                <a:spcPct val="103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descripción, un resumen corto: ramo, qué hicieron y dónde está el notebook.</a:t>
            </a:r>
            <a:endParaRPr lang="en-US" sz="1550" dirty="0"/>
          </a:p>
          <a:p>
            <a:pPr marL="177800" indent="-177800">
              <a:lnSpc>
                <a:spcPct val="103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 reviso el PR: si dejo comentarios, los atienden con más commits al mismo branch (el PR se actualiza solo).</a:t>
            </a:r>
            <a:endParaRPr lang="en-US" sz="1550" dirty="0"/>
          </a:p>
          <a:p>
            <a:pPr marL="177800" indent="-177800">
              <a:lnSpc>
                <a:spcPct val="103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está bien, lo apruebo/cierro. Ese PR es su entrega con sello de tiempo.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502920" y="6455664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MASDFR · Semana 3 · Sesión 8 — Git y entregas (fork + PR)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Buenas prácticas de entrega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969264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 la revisión sea rápida y limpia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5532120" cy="1783080"/>
          </a:xfrm>
          <a:prstGeom prst="roundRect">
            <a:avLst>
              <a:gd name="adj" fmla="val 4103"/>
            </a:avLst>
          </a:prstGeom>
          <a:solidFill>
            <a:srgbClr val="1C2E56"/>
          </a:solidFill>
          <a:ln/>
          <a:effectLst>
            <a:outerShdw sx="100000" sy="100000" kx="0" ky="0" algn="bl" rotWithShape="0" blurRad="63500" dist="25400" dir="5400000">
              <a:srgbClr val="000000">
                <a:alpha val="3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0116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A69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Un .gitignore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251460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suban __pycache__, .ipynb_checkpoints ni datos pesados.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09360" y="1783080"/>
            <a:ext cx="5532120" cy="1783080"/>
          </a:xfrm>
          <a:prstGeom prst="roundRect">
            <a:avLst>
              <a:gd name="adj" fmla="val 4103"/>
            </a:avLst>
          </a:prstGeom>
          <a:solidFill>
            <a:srgbClr val="1C2E56"/>
          </a:solidFill>
          <a:ln/>
          <a:effectLst>
            <a:outerShdw sx="100000" sy="100000" kx="0" ky="0" algn="bl" rotWithShape="0" blurRad="63500" dist="25400" dir="5400000">
              <a:srgbClr val="000000">
                <a:alpha val="3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20116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C7FD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Nombres claros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83680" y="251460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practica1_equipoXX.ipynb; carpeta por práctica.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3794760"/>
            <a:ext cx="5532120" cy="1783080"/>
          </a:xfrm>
          <a:prstGeom prst="roundRect">
            <a:avLst>
              <a:gd name="adj" fmla="val 4103"/>
            </a:avLst>
          </a:prstGeom>
          <a:solidFill>
            <a:srgbClr val="1C2E56"/>
          </a:solidFill>
          <a:ln/>
          <a:effectLst>
            <a:outerShdw sx="100000" sy="100000" kx="0" ky="0" algn="bl" rotWithShape="0" blurRad="63500" dist="25400" dir="5400000">
              <a:srgbClr val="000000">
                <a:alpha val="3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77240" y="40233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873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Commits con mensaje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77240" y="452628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“Ajuste de severidad”, no “cambios” o “asdf”.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309360" y="3794760"/>
            <a:ext cx="5532120" cy="1783080"/>
          </a:xfrm>
          <a:prstGeom prst="roundRect">
            <a:avLst>
              <a:gd name="adj" fmla="val 4103"/>
            </a:avLst>
          </a:prstGeom>
          <a:solidFill>
            <a:srgbClr val="1C2E56"/>
          </a:solidFill>
          <a:ln/>
          <a:effectLst>
            <a:outerShdw sx="100000" sy="100000" kx="0" ky="0" algn="bl" rotWithShape="0" blurRad="63500" dist="25400" dir="5400000">
              <a:srgbClr val="000000">
                <a:alpha val="3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83680" y="40233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504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Notebook que corre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583680" y="452628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principio a fin, sin errores, antes de entregar.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6455664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MASDFR · Semana 3 · Sesión 8 — Git y entregas (fork + PR)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Cómo voy a evaluar cada práctica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969264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Rúbrica reutilizable (los pesos pueden ajustarse)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3108960" cy="658368"/>
          </a:xfrm>
          <a:prstGeom prst="roundRect">
            <a:avLst>
              <a:gd name="adj" fmla="val 11111"/>
            </a:avLst>
          </a:prstGeom>
          <a:solidFill>
            <a:srgbClr val="17A69B"/>
          </a:solidFill>
          <a:ln/>
          <a:effectLst>
            <a:outerShdw sx="100000" sy="100000" kx="0" ky="0" algn="bl" rotWithShape="0" blurRad="63500" dist="25400" dir="5400000">
              <a:srgbClr val="000000">
                <a:alpha val="3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737360"/>
            <a:ext cx="2880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E3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Criterio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11880" y="1737360"/>
            <a:ext cx="1097280" cy="658368"/>
          </a:xfrm>
          <a:prstGeom prst="roundRect">
            <a:avLst>
              <a:gd name="adj" fmla="val 11111"/>
            </a:avLst>
          </a:prstGeom>
          <a:solidFill>
            <a:srgbClr val="17A69B"/>
          </a:solidFill>
          <a:ln/>
          <a:effectLst>
            <a:outerShdw sx="100000" sy="100000" kx="0" ky="0" algn="bl" rotWithShape="0" blurRad="63500" dist="25400" dir="5400000">
              <a:srgbClr val="000000">
                <a:alpha val="3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749040" y="1737360"/>
            <a:ext cx="868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E3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Peso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09160" y="1737360"/>
            <a:ext cx="6995160" cy="658368"/>
          </a:xfrm>
          <a:prstGeom prst="roundRect">
            <a:avLst>
              <a:gd name="adj" fmla="val 11111"/>
            </a:avLst>
          </a:prstGeom>
          <a:solidFill>
            <a:srgbClr val="17A69B"/>
          </a:solidFill>
          <a:ln/>
          <a:effectLst>
            <a:outerShdw sx="100000" sy="100000" kx="0" ky="0" algn="bl" rotWithShape="0" blurRad="63500" dist="25400" dir="5400000">
              <a:srgbClr val="000000">
                <a:alpha val="3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46320" y="1737360"/>
            <a:ext cx="6766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E3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Qué busco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2414016"/>
            <a:ext cx="3108960" cy="658368"/>
          </a:xfrm>
          <a:prstGeom prst="roundRect">
            <a:avLst>
              <a:gd name="adj" fmla="val 11111"/>
            </a:avLst>
          </a:prstGeom>
          <a:solidFill>
            <a:srgbClr val="263B6E"/>
          </a:solidFill>
          <a:ln/>
          <a:effectLst>
            <a:outerShdw sx="100000" sy="100000" kx="0" ky="0" algn="bl" rotWithShape="0" blurRad="63500" dist="25400" dir="5400000">
              <a:srgbClr val="000000">
                <a:alpha val="3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2414016"/>
            <a:ext cx="2880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Correctitud técnica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11880" y="2414016"/>
            <a:ext cx="1097280" cy="658368"/>
          </a:xfrm>
          <a:prstGeom prst="roundRect">
            <a:avLst>
              <a:gd name="adj" fmla="val 11111"/>
            </a:avLst>
          </a:prstGeom>
          <a:solidFill>
            <a:srgbClr val="263B6E"/>
          </a:solidFill>
          <a:ln/>
          <a:effectLst>
            <a:outerShdw sx="100000" sy="100000" kx="0" ky="0" algn="bl" rotWithShape="0" blurRad="63500" dist="25400" dir="5400000">
              <a:srgbClr val="000000">
                <a:alpha val="3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749040" y="2414016"/>
            <a:ext cx="868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8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709160" y="2414016"/>
            <a:ext cx="6995160" cy="658368"/>
          </a:xfrm>
          <a:prstGeom prst="roundRect">
            <a:avLst>
              <a:gd name="adj" fmla="val 11111"/>
            </a:avLst>
          </a:prstGeom>
          <a:solidFill>
            <a:srgbClr val="263B6E"/>
          </a:solidFill>
          <a:ln/>
          <a:effectLst>
            <a:outerShdw sx="100000" sy="100000" kx="0" ky="0" algn="bl" rotWithShape="0" blurRad="63500" dist="25400" dir="5400000">
              <a:srgbClr val="000000">
                <a:alpha val="3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46320" y="2414016"/>
            <a:ext cx="6766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ajuste / simulación / cálculo está bien hecho.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3090672"/>
            <a:ext cx="3108960" cy="658368"/>
          </a:xfrm>
          <a:prstGeom prst="roundRect">
            <a:avLst>
              <a:gd name="adj" fmla="val 11111"/>
            </a:avLst>
          </a:prstGeom>
          <a:solidFill>
            <a:srgbClr val="1C2E56"/>
          </a:solidFill>
          <a:ln/>
          <a:effectLst>
            <a:outerShdw sx="100000" sy="100000" kx="0" ky="0" algn="bl" rotWithShape="0" blurRad="63500" dist="25400" dir="5400000">
              <a:srgbClr val="000000">
                <a:alpha val="3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080" y="3090672"/>
            <a:ext cx="2880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Justificación y criterio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11880" y="3090672"/>
            <a:ext cx="1097280" cy="658368"/>
          </a:xfrm>
          <a:prstGeom prst="roundRect">
            <a:avLst>
              <a:gd name="adj" fmla="val 11111"/>
            </a:avLst>
          </a:prstGeom>
          <a:solidFill>
            <a:srgbClr val="1C2E56"/>
          </a:solidFill>
          <a:ln/>
          <a:effectLst>
            <a:outerShdw sx="100000" sy="100000" kx="0" ky="0" algn="bl" rotWithShape="0" blurRad="63500" dist="25400" dir="5400000">
              <a:srgbClr val="000000">
                <a:alpha val="3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749040" y="3090672"/>
            <a:ext cx="868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8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709160" y="3090672"/>
            <a:ext cx="6995160" cy="658368"/>
          </a:xfrm>
          <a:prstGeom prst="roundRect">
            <a:avLst>
              <a:gd name="adj" fmla="val 11111"/>
            </a:avLst>
          </a:prstGeom>
          <a:solidFill>
            <a:srgbClr val="1C2E56"/>
          </a:solidFill>
          <a:ln/>
          <a:effectLst>
            <a:outerShdw sx="100000" sy="100000" kx="0" ky="0" algn="bl" rotWithShape="0" blurRad="63500" dist="25400" dir="5400000">
              <a:srgbClr val="000000">
                <a:alpha val="3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46320" y="3090672"/>
            <a:ext cx="6766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eligieron y explicaron; no solo corrieron código.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02920" y="3767328"/>
            <a:ext cx="3108960" cy="658368"/>
          </a:xfrm>
          <a:prstGeom prst="roundRect">
            <a:avLst>
              <a:gd name="adj" fmla="val 11111"/>
            </a:avLst>
          </a:prstGeom>
          <a:solidFill>
            <a:srgbClr val="263B6E"/>
          </a:solidFill>
          <a:ln/>
          <a:effectLst>
            <a:outerShdw sx="100000" sy="100000" kx="0" ky="0" algn="bl" rotWithShape="0" blurRad="63500" dist="25400" dir="5400000">
              <a:srgbClr val="000000">
                <a:alpha val="3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0080" y="3767328"/>
            <a:ext cx="2880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Código reproducible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611880" y="3767328"/>
            <a:ext cx="1097280" cy="658368"/>
          </a:xfrm>
          <a:prstGeom prst="roundRect">
            <a:avLst>
              <a:gd name="adj" fmla="val 11111"/>
            </a:avLst>
          </a:prstGeom>
          <a:solidFill>
            <a:srgbClr val="263B6E"/>
          </a:solidFill>
          <a:ln/>
          <a:effectLst>
            <a:outerShdw sx="100000" sy="100000" kx="0" ky="0" algn="bl" rotWithShape="0" blurRad="63500" dist="25400" dir="5400000">
              <a:srgbClr val="000000">
                <a:alpha val="3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749040" y="3767328"/>
            <a:ext cx="868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8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709160" y="3767328"/>
            <a:ext cx="6995160" cy="658368"/>
          </a:xfrm>
          <a:prstGeom prst="roundRect">
            <a:avLst>
              <a:gd name="adj" fmla="val 11111"/>
            </a:avLst>
          </a:prstGeom>
          <a:solidFill>
            <a:srgbClr val="263B6E"/>
          </a:solidFill>
          <a:ln/>
          <a:effectLst>
            <a:outerShdw sx="100000" sy="100000" kx="0" ky="0" algn="bl" rotWithShape="0" blurRad="63500" dist="25400" dir="5400000">
              <a:srgbClr val="000000">
                <a:alpha val="3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846320" y="3767328"/>
            <a:ext cx="6766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 de principio a fin, ordenado y comentado.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02920" y="4443984"/>
            <a:ext cx="3108960" cy="658368"/>
          </a:xfrm>
          <a:prstGeom prst="roundRect">
            <a:avLst>
              <a:gd name="adj" fmla="val 11111"/>
            </a:avLst>
          </a:prstGeom>
          <a:solidFill>
            <a:srgbClr val="1C2E56"/>
          </a:solidFill>
          <a:ln/>
          <a:effectLst>
            <a:outerShdw sx="100000" sy="100000" kx="0" ky="0" algn="bl" rotWithShape="0" blurRad="63500" dist="25400" dir="5400000">
              <a:srgbClr val="000000">
                <a:alpha val="3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40080" y="4443984"/>
            <a:ext cx="2880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Entrega correcta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3611880" y="4443984"/>
            <a:ext cx="1097280" cy="658368"/>
          </a:xfrm>
          <a:prstGeom prst="roundRect">
            <a:avLst>
              <a:gd name="adj" fmla="val 11111"/>
            </a:avLst>
          </a:prstGeom>
          <a:solidFill>
            <a:srgbClr val="1C2E56"/>
          </a:solidFill>
          <a:ln/>
          <a:effectLst>
            <a:outerShdw sx="100000" sy="100000" kx="0" ky="0" algn="bl" rotWithShape="0" blurRad="63500" dist="25400" dir="5400000">
              <a:srgbClr val="000000">
                <a:alpha val="3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749040" y="4443984"/>
            <a:ext cx="868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8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709160" y="4443984"/>
            <a:ext cx="6995160" cy="658368"/>
          </a:xfrm>
          <a:prstGeom prst="roundRect">
            <a:avLst>
              <a:gd name="adj" fmla="val 11111"/>
            </a:avLst>
          </a:prstGeom>
          <a:solidFill>
            <a:srgbClr val="1C2E56"/>
          </a:solidFill>
          <a:ln/>
          <a:effectLst>
            <a:outerShdw sx="100000" sy="100000" kx="0" ky="0" algn="bl" rotWithShape="0" blurRad="63500" dist="25400" dir="5400000">
              <a:srgbClr val="000000">
                <a:alpha val="3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846320" y="4443984"/>
            <a:ext cx="6766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Pull Request, en tiempo y con la estructura pedida.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02920" y="5120640"/>
            <a:ext cx="3108960" cy="658368"/>
          </a:xfrm>
          <a:prstGeom prst="roundRect">
            <a:avLst>
              <a:gd name="adj" fmla="val 11111"/>
            </a:avLst>
          </a:prstGeom>
          <a:solidFill>
            <a:srgbClr val="263B6E"/>
          </a:solidFill>
          <a:ln/>
          <a:effectLst>
            <a:outerShdw sx="100000" sy="100000" kx="0" ky="0" algn="bl" rotWithShape="0" blurRad="63500" dist="25400" dir="5400000">
              <a:srgbClr val="000000">
                <a:alpha val="3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40080" y="5120640"/>
            <a:ext cx="2880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Orden y presentación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3611880" y="5120640"/>
            <a:ext cx="1097280" cy="658368"/>
          </a:xfrm>
          <a:prstGeom prst="roundRect">
            <a:avLst>
              <a:gd name="adj" fmla="val 11111"/>
            </a:avLst>
          </a:prstGeom>
          <a:solidFill>
            <a:srgbClr val="263B6E"/>
          </a:solidFill>
          <a:ln/>
          <a:effectLst>
            <a:outerShdw sx="100000" sy="100000" kx="0" ky="0" algn="bl" rotWithShape="0" blurRad="63500" dist="25400" dir="5400000">
              <a:srgbClr val="000000">
                <a:alpha val="3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3749040" y="5120640"/>
            <a:ext cx="868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8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4709160" y="5120640"/>
            <a:ext cx="6995160" cy="658368"/>
          </a:xfrm>
          <a:prstGeom prst="roundRect">
            <a:avLst>
              <a:gd name="adj" fmla="val 11111"/>
            </a:avLst>
          </a:prstGeom>
          <a:solidFill>
            <a:srgbClr val="263B6E"/>
          </a:solidFill>
          <a:ln/>
          <a:effectLst>
            <a:outerShdw sx="100000" sy="100000" kx="0" ky="0" algn="bl" rotWithShape="0" blurRad="63500" dist="25400" dir="5400000">
              <a:srgbClr val="000000">
                <a:alpha val="3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846320" y="5120640"/>
            <a:ext cx="6766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legible, con conclusiones claras.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48640" y="566928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criterio se califica en tres niveles (destacado / satisfactorio / insuficiente); el desglose está en el documento de la rúbrica.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502920" y="6455664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MASDFR · Semana 3 · Sesión 8 — Git y entregas (fork + PR)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Los tres niveles de logro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969264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mismo aplica a cada criterio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2011680"/>
            <a:ext cx="3639312" cy="2926080"/>
          </a:xfrm>
          <a:prstGeom prst="roundRect">
            <a:avLst>
              <a:gd name="adj" fmla="val 2500"/>
            </a:avLst>
          </a:prstGeom>
          <a:solidFill>
            <a:srgbClr val="1C2E56"/>
          </a:solidFill>
          <a:ln/>
          <a:effectLst>
            <a:outerShdw sx="100000" sy="100000" kx="0" ky="0" algn="bl" rotWithShape="0" blurRad="63500" dist="25400" dir="5400000">
              <a:srgbClr val="000000">
                <a:alpha val="3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2011680"/>
            <a:ext cx="3639312" cy="658368"/>
          </a:xfrm>
          <a:prstGeom prst="roundRect">
            <a:avLst>
              <a:gd name="adj" fmla="val 11111"/>
            </a:avLst>
          </a:prstGeom>
          <a:solidFill>
            <a:srgbClr val="17A69B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2011680"/>
            <a:ext cx="36393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E3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Destacado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299923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Correcto, bien justificado y reproducible; entrega impecable por PR.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16552" y="2011680"/>
            <a:ext cx="3639312" cy="2926080"/>
          </a:xfrm>
          <a:prstGeom prst="roundRect">
            <a:avLst>
              <a:gd name="adj" fmla="val 2500"/>
            </a:avLst>
          </a:prstGeom>
          <a:solidFill>
            <a:srgbClr val="1C2E56"/>
          </a:solidFill>
          <a:ln/>
          <a:effectLst>
            <a:outerShdw sx="100000" sy="100000" kx="0" ky="0" algn="bl" rotWithShape="0" blurRad="63500" dist="25400" dir="5400000">
              <a:srgbClr val="000000">
                <a:alpha val="3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16552" y="2011680"/>
            <a:ext cx="3639312" cy="658368"/>
          </a:xfrm>
          <a:prstGeom prst="roundRect">
            <a:avLst>
              <a:gd name="adj" fmla="val 11111"/>
            </a:avLst>
          </a:prstGeom>
          <a:solidFill>
            <a:srgbClr val="E8873C"/>
          </a:solidFill>
          <a:ln/>
        </p:spPr>
      </p:sp>
      <p:sp>
        <p:nvSpPr>
          <p:cNvPr id="11" name="Text 9"/>
          <p:cNvSpPr/>
          <p:nvPr/>
        </p:nvSpPr>
        <p:spPr>
          <a:xfrm>
            <a:off x="4416552" y="2011680"/>
            <a:ext cx="36393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E3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Satisfactorio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36592" y="2971800"/>
            <a:ext cx="299923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Correcto en lo esencial, con justificación o limpieza mejorables.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330184" y="2011680"/>
            <a:ext cx="3639312" cy="2926080"/>
          </a:xfrm>
          <a:prstGeom prst="roundRect">
            <a:avLst>
              <a:gd name="adj" fmla="val 2500"/>
            </a:avLst>
          </a:prstGeom>
          <a:solidFill>
            <a:srgbClr val="1C2E56"/>
          </a:solidFill>
          <a:ln/>
          <a:effectLst>
            <a:outerShdw sx="100000" sy="100000" kx="0" ky="0" algn="bl" rotWithShape="0" blurRad="63500" dist="25400" dir="5400000">
              <a:srgbClr val="000000">
                <a:alpha val="3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330184" y="2011680"/>
            <a:ext cx="3639312" cy="658368"/>
          </a:xfrm>
          <a:prstGeom prst="roundRect">
            <a:avLst>
              <a:gd name="adj" fmla="val 11111"/>
            </a:avLst>
          </a:prstGeom>
          <a:solidFill>
            <a:srgbClr val="C0504D"/>
          </a:solidFill>
          <a:ln/>
        </p:spPr>
      </p:sp>
      <p:sp>
        <p:nvSpPr>
          <p:cNvPr id="15" name="Text 13"/>
          <p:cNvSpPr/>
          <p:nvPr/>
        </p:nvSpPr>
        <p:spPr>
          <a:xfrm>
            <a:off x="8330184" y="2011680"/>
            <a:ext cx="36393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E3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Insuficiente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650224" y="2971800"/>
            <a:ext cx="299923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técnicos, sin justificación, no reproducible o mal entregado.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6455664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MASDFR · Semana 3 · Sesión 8 — Git y entregas (fork + PR)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Checklist: ¿listo para entregar?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969264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abrir el Pull Request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110642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3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Hiciste fork del repo del curso y clonaste TU fork.</a:t>
            </a:r>
            <a:endParaRPr lang="en-US" sz="1600" dirty="0"/>
          </a:p>
          <a:p>
            <a:pPr marL="177800" indent="-177800">
              <a:lnSpc>
                <a:spcPct val="103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Trabajaste en una rama de la práctica (no en main).</a:t>
            </a:r>
            <a:endParaRPr lang="en-US" sz="1600" dirty="0"/>
          </a:p>
          <a:p>
            <a:pPr marL="177800" indent="-177800">
              <a:lnSpc>
                <a:spcPct val="103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notebook corre de principio a fin, sin errores.</a:t>
            </a:r>
            <a:endParaRPr lang="en-US" sz="1600" dirty="0"/>
          </a:p>
          <a:p>
            <a:pPr marL="177800" indent="-177800">
              <a:lnSpc>
                <a:spcPct val="103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Tienes un .gitignore y no subiste datos pesados ni basura.</a:t>
            </a:r>
            <a:endParaRPr lang="en-US" sz="1600" dirty="0"/>
          </a:p>
          <a:p>
            <a:pPr marL="177800" indent="-177800">
              <a:lnSpc>
                <a:spcPct val="103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Hiciste push a tu fork y abriste el Pull Request con título claro.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521208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263B6E"/>
          </a:solidFill>
          <a:ln/>
          <a:effectLst>
            <a:outerShdw sx="100000" sy="100000" kx="0" ky="0" algn="bl" rotWithShape="0" blurRad="63500" dist="25400" dir="5400000">
              <a:srgbClr val="000000">
                <a:alpha val="3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521208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guía paso a paso y la rúbrica completa están como documentos en Classroom, para que las sigas en VS Code.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6455664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MASDFR · Semana 3 · Sesión 8 — Git y entregas (fork + PR)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2026-09-02T00:04:11Z</dcterms:created>
  <dcterms:modified xsi:type="dcterms:W3CDTF">2026-09-02T00:04:11Z</dcterms:modified>
</cp:coreProperties>
</file>