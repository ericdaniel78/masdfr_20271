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Shape 1"/>
          <p:cNvSpPr/>
          <p:nvPr/>
        </p:nvSpPr>
        <p:spPr>
          <a:xfrm>
            <a:off x="7818120" y="777240"/>
            <a:ext cx="3886200" cy="5257800"/>
          </a:xfrm>
          <a:prstGeom prst="roundRect">
            <a:avLst>
              <a:gd name="adj" fmla="val 1882"/>
            </a:avLst>
          </a:prstGeom>
          <a:solidFill>
            <a:srgbClr val="263B6E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pic>
        <p:nvPicPr>
          <p:cNvPr id="4" name="Image 0" descr="f2_f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3568" y="2468880"/>
            <a:ext cx="3611880" cy="228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818120" y="480060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la Poisson se queda corta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8229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2 · FRECUENCIA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4360" y="141732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Sesión 5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621792" y="2377440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A69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Sobredispersión y el modelo colectivo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40080" y="31546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Matemáticas Actuariales para Seguro de Daños, Fianzas y Reaseguro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41605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Var &gt; media: la binomial negativa. Y por fin unimos frecuencia con severidad.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" y="58521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Ciencias · UNAM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Recap: el talón de Aquiles de la Poisson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96926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equidispersión no siempre se cumple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65836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Poisson exige que la varianza sea igual a la media (equidispersión).</a:t>
            </a:r>
            <a:endParaRPr lang="en-US" sz="17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en datos reales, el número de siniestros suele tener más variabilidad de la que la Poisson admite.</a:t>
            </a:r>
            <a:endParaRPr lang="en-US" sz="17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eso pasa, decimos que hay sobredispersión: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498080" y="2286000"/>
            <a:ext cx="4206240" cy="1828800"/>
          </a:xfrm>
          <a:prstGeom prst="roundRect">
            <a:avLst>
              <a:gd name="adj" fmla="val 4000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0" descr="f2_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19008" y="2880360"/>
            <a:ext cx="2564384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0" y="35204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88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Var[N] &gt; E[N]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Semana 2 · Sesión 5 — Frecuencia y modelo colectivo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Sobredispersión: por qué ocurre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96926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por qué no puedes ignorarla</a:t>
            </a:r>
            <a:endParaRPr lang="en-US" sz="1500" dirty="0"/>
          </a:p>
        </p:txBody>
      </p:sp>
      <p:pic>
        <p:nvPicPr>
          <p:cNvPr id="5" name="Image 0" descr="f2_overdis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28800"/>
            <a:ext cx="4860210" cy="3108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126480" y="1874520"/>
            <a:ext cx="5577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cartera es heterogénea: no todas las pólizas tienen la misma tasa de riesgo.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cúmulos: un evento puede generar varios siniestros a la vez.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suele haber exceso de ceros: muchísimas pólizas no reclaman nunca.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insistes en Poisson, subestimas la variabilidad de N — y con ella, el capital y el margen de riesgo.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Semana 2 · Sesión 5 — Frecuencia y modelo colectivo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Sobredispersión: ¿de dónde viene?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96926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herramienta depende de la causa — primero diagnostica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3584448" cy="3383280"/>
          </a:xfrm>
          <a:prstGeom prst="roundRect">
            <a:avLst>
              <a:gd name="adj" fmla="val 2162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2148840"/>
            <a:ext cx="3584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468880"/>
            <a:ext cx="3218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Moderada / difusa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971800"/>
            <a:ext cx="3035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varianza es un múltiplo de la media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703320"/>
            <a:ext cx="3584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2960" y="4114800"/>
            <a:ext cx="2944368" cy="868680"/>
          </a:xfrm>
          <a:prstGeom prst="roundRect">
            <a:avLst>
              <a:gd name="adj" fmla="val 8421"/>
            </a:avLst>
          </a:prstGeom>
          <a:solidFill>
            <a:srgbClr val="17A69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114800"/>
            <a:ext cx="29443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E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quasi-Poisson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43400" y="1965960"/>
            <a:ext cx="3584448" cy="3383280"/>
          </a:xfrm>
          <a:prstGeom prst="roundRect">
            <a:avLst>
              <a:gd name="adj" fmla="val 2162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343400" y="2148840"/>
            <a:ext cx="3584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26280" y="2468880"/>
            <a:ext cx="3218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Exceso de ceros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17720" y="2971800"/>
            <a:ext cx="3035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muchas más pólizas sin siniestro de lo esperado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43400" y="3703320"/>
            <a:ext cx="3584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8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663440" y="4114800"/>
            <a:ext cx="2944368" cy="868680"/>
          </a:xfrm>
          <a:prstGeom prst="roundRect">
            <a:avLst>
              <a:gd name="adj" fmla="val 8421"/>
            </a:avLst>
          </a:prstGeom>
          <a:solidFill>
            <a:srgbClr val="E8873C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4114800"/>
            <a:ext cx="29443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E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ZIP / hurdle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183880" y="1965960"/>
            <a:ext cx="3584448" cy="3383280"/>
          </a:xfrm>
          <a:prstGeom prst="roundRect">
            <a:avLst>
              <a:gd name="adj" fmla="val 2162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183880" y="2148840"/>
            <a:ext cx="35844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66760" y="2468880"/>
            <a:ext cx="3218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Heterogeneidad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458200" y="2971800"/>
            <a:ext cx="3035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mezcla de riesgos distintos en la cartera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183880" y="3703320"/>
            <a:ext cx="3584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503920" y="4114800"/>
            <a:ext cx="2944368" cy="868680"/>
          </a:xfrm>
          <a:prstGeom prst="roundRect">
            <a:avLst>
              <a:gd name="adj" fmla="val 8421"/>
            </a:avLst>
          </a:prstGeom>
          <a:solidFill>
            <a:srgbClr val="C0504D"/>
          </a:solidFill>
          <a:ln/>
        </p:spPr>
      </p:sp>
      <p:sp>
        <p:nvSpPr>
          <p:cNvPr id="25" name="Text 23"/>
          <p:cNvSpPr/>
          <p:nvPr/>
        </p:nvSpPr>
        <p:spPr>
          <a:xfrm>
            <a:off x="8503920" y="4114800"/>
            <a:ext cx="29443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E3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binomial negativa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Semana 2 · Sesión 5 — Frecuencia y modelo colectivo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Quasi-Poisson: un parche para dispersión moderada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96926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una distribución nueva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06640" y="2103120"/>
            <a:ext cx="4297680" cy="1371600"/>
          </a:xfrm>
          <a:prstGeom prst="roundRect">
            <a:avLst>
              <a:gd name="adj" fmla="val 5333"/>
            </a:avLst>
          </a:prstGeom>
          <a:solidFill>
            <a:srgbClr val="263B6E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f2_quas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6705" y="2606040"/>
            <a:ext cx="325755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06640" y="306324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 = factor de dispersión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2011680"/>
            <a:ext cx="6400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Mantiene la media de la Poisson, pero infla la varianza por un factor φ: Var[N] = φ·μ.</a:t>
            </a:r>
            <a:endParaRPr lang="en-US" sz="15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φ &gt; 1 absorbe sobredispersión moderada sin cambiar el modelo de la media.</a:t>
            </a:r>
            <a:endParaRPr lang="en-US" sz="15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Corrige los errores estándar y la inferencia (los efectos siguen siendo confiables).</a:t>
            </a:r>
            <a:endParaRPr lang="en-US" sz="15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Limitación: no tiene pmf ni verosimilitud propia → no sirve para simular ni para modelar la cola.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Semana 2 · Sesión 5 — Frecuencia y modelo colectivo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Exceso de ceros: ZIP y hurdle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96926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problema son demasiados ceros, no dispersión general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5532120" cy="3657600"/>
          </a:xfrm>
          <a:prstGeom prst="roundRect">
            <a:avLst>
              <a:gd name="adj" fmla="val 2000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011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7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ZIP (zero-inflated Poisson)</a:t>
            </a:r>
            <a:endParaRPr lang="en-US" sz="1800" dirty="0"/>
          </a:p>
        </p:txBody>
      </p:sp>
      <p:pic>
        <p:nvPicPr>
          <p:cNvPr id="7" name="Image 0" descr="f2_z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8594" y="2651760"/>
            <a:ext cx="3351628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383280"/>
            <a:ext cx="50292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Mezcla dos fuentes de ceros: pólizas “estructurales” que nunca reclaman + una Poisson (que también da ceros).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componente decide “¿está en riesgo?” y otro “¿cuántos siniestros?”.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72200" y="1783080"/>
            <a:ext cx="5532120" cy="3657600"/>
          </a:xfrm>
          <a:prstGeom prst="roundRect">
            <a:avLst>
              <a:gd name="adj" fmla="val 2000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46520" y="20116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C7FD1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Hurdle (de dos etapas)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446520" y="2606040"/>
            <a:ext cx="50292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1: ¿hay al menos un siniestro? (0 vs. &gt;0).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2: si lo hay, ¿cuántos? (una Poisson truncada en 0).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con ZIP: en hurdle todos los ceros vienen de la etapa 1; en ZIP, de ambos componentes.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48640" y="55321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seguros el exceso de ceros es la regla: la mayoría de las pólizas no reclama.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Semana 2 · Sesión 5 — Frecuencia y modelo colectivo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 binomial negativa: una mezcla Poisson–Gamma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96926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misma idea del vistazo bayesiano de severidad</a:t>
            </a:r>
            <a:endParaRPr lang="en-US" sz="1500" dirty="0"/>
          </a:p>
        </p:txBody>
      </p:sp>
      <p:pic>
        <p:nvPicPr>
          <p:cNvPr id="5" name="Image 0" descr="f2_gam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74520"/>
            <a:ext cx="4844566" cy="3017520"/>
          </a:xfrm>
          <a:prstGeom prst="rect">
            <a:avLst/>
          </a:prstGeom>
        </p:spPr>
      </p:pic>
      <p:pic>
        <p:nvPicPr>
          <p:cNvPr id="6" name="Image 1" descr="f2_mi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257800"/>
            <a:ext cx="4575100" cy="3291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26480" y="1965960"/>
            <a:ext cx="5577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póliza tiene su propia tasa λ; esa λ varía entre pólizas según una Gamma.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 | λ es Poisson y λ es Gamma, al promediar sobre todas las λ el resultado es una binomial negativa.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exactamente el prior → posterior que vimos en severidad, ahora aplicado a la frecuencia.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Semana 2 · Sesión 5 — Frecuencia y modelo colectivo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Binomial negativa: permite Var &gt; media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96926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parámetro extra que gradúa la dispersión</a:t>
            </a:r>
            <a:endParaRPr lang="en-US" sz="1500" dirty="0"/>
          </a:p>
        </p:txBody>
      </p:sp>
      <p:pic>
        <p:nvPicPr>
          <p:cNvPr id="5" name="Image 0" descr="f2_n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16891" y="1554480"/>
            <a:ext cx="3146027" cy="438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377440" y="2514600"/>
            <a:ext cx="7406640" cy="1051560"/>
          </a:xfrm>
          <a:prstGeom prst="roundRect">
            <a:avLst>
              <a:gd name="adj" fmla="val 6957"/>
            </a:avLst>
          </a:prstGeom>
          <a:solidFill>
            <a:srgbClr val="263B6E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1" descr="f2_nbv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6851" y="2788920"/>
            <a:ext cx="3426106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388620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E[N] = μ, igual que la Poisson; pero la varianza es μ + μ²/r, siempre mayor que μ.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es el parámetro de dispersión: mide cuánta sobredispersión hay.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r → ∞, el término μ²/r desaparece y la binomial negativa vuelve a ser Poisson.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Semana 2 · Sesión 5 — Frecuencia y modelo colectivo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Poisson o binomial negativa: cómo se elige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96926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los datos, no a ojo</a:t>
            </a:r>
            <a:endParaRPr lang="en-US" sz="1500" dirty="0"/>
          </a:p>
        </p:txBody>
      </p:sp>
      <p:pic>
        <p:nvPicPr>
          <p:cNvPr id="5" name="Image 0" descr="f2_f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28800"/>
            <a:ext cx="4860210" cy="3108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126480" y="1874520"/>
            <a:ext cx="5577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diagnóstico: el índice de dispersión Var/media. Si es ≈ 1, Poisson; si es &gt; 1, binomial negativa.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ajustan ambas por máxima verosimilitud y se comparan con el AIC.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gráfica, la binomial negativa (roja) sigue a los datos; la Poisson (naranja) se despega.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práctica: ante sobredispersión clara, la binomial negativa.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Semana 2 · Sesión 5 — Frecuencia y modelo colectivo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Unir las piezas: el modelo colectivo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96926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 × severidad = pérdida agregada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097280" y="2468880"/>
            <a:ext cx="2926080" cy="1554480"/>
          </a:xfrm>
          <a:prstGeom prst="roundRect">
            <a:avLst>
              <a:gd name="adj" fmla="val 4706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2788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A69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Frecuencia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7280" y="33375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023360" y="2468880"/>
            <a:ext cx="822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2468880"/>
            <a:ext cx="2926080" cy="1554480"/>
          </a:xfrm>
          <a:prstGeom prst="roundRect">
            <a:avLst>
              <a:gd name="adj" fmla="val 4706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2788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887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Severidad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846320" y="33375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X₁, X₂, …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772400" y="2468880"/>
            <a:ext cx="822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8595360" y="2468880"/>
            <a:ext cx="2926080" cy="1554480"/>
          </a:xfrm>
          <a:prstGeom prst="roundRect">
            <a:avLst>
              <a:gd name="adj" fmla="val 4706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595360" y="27889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0504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Pérdida agregada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595360" y="33375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500" dirty="0"/>
          </a:p>
        </p:txBody>
      </p:sp>
      <p:pic>
        <p:nvPicPr>
          <p:cNvPr id="16" name="Image 0" descr="f2_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18057" y="4480560"/>
            <a:ext cx="3143693" cy="4572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40080" y="52120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Sumas N severidades (cada siniestro cuesta Xᵢ) para obtener la pérdida total S de la cartera.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Semana 2 · Sesión 5 — Frecuencia y modelo colectivo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E[S] y Var[S]: los dos momentos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96926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Analíticos — sin simular todavía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263B6E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f2_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6848" y="2057400"/>
            <a:ext cx="2424223" cy="457200"/>
          </a:xfrm>
          <a:prstGeom prst="rect">
            <a:avLst/>
          </a:prstGeom>
        </p:spPr>
      </p:pic>
      <p:pic>
        <p:nvPicPr>
          <p:cNvPr id="7" name="Image 1" descr="f2_Va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5445" y="2084832"/>
            <a:ext cx="4154070" cy="42062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3154680"/>
            <a:ext cx="110642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E[S] es directo: número esperado de siniestros por costo esperado de cada uno.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Var[S] tiene DOS fuentes: la variabilidad de los montos (E[N]·Var[X]) y la del conteo (Var[N]·E[X]²).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Aquí se paga la sobredispersión: si Var[N] &gt; E[N], el segundo término crece y Var[S] se dispara.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 elegir bien la frecuencia (Poisson vs. binomial negativa) mueve directamente el riesgo agregado.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Semana 2 · Sesión 5 — Frecuencia y modelo colectivo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 ejemplo con números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21208" y="969264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media de frecuencia, distinta dispersión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Severidad: E[X] = 270, Var[X] ≈ 90,900   ·   Frecuencia: E[N] = 0.5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011680" y="2148840"/>
            <a:ext cx="2743200" cy="585216"/>
          </a:xfrm>
          <a:prstGeom prst="roundRect">
            <a:avLst>
              <a:gd name="adj" fmla="val 12500"/>
            </a:avLst>
          </a:prstGeom>
          <a:solidFill>
            <a:srgbClr val="263B6E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40280" y="2148840"/>
            <a:ext cx="23774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937760" y="2148840"/>
            <a:ext cx="2743200" cy="585216"/>
          </a:xfrm>
          <a:prstGeom prst="roundRect">
            <a:avLst>
              <a:gd name="adj" fmla="val 12500"/>
            </a:avLst>
          </a:prstGeom>
          <a:solidFill>
            <a:srgbClr val="263B6E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2148840"/>
            <a:ext cx="2743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Poisson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863840" y="2148840"/>
            <a:ext cx="2743200" cy="585216"/>
          </a:xfrm>
          <a:prstGeom prst="roundRect">
            <a:avLst>
              <a:gd name="adj" fmla="val 12500"/>
            </a:avLst>
          </a:prstGeom>
          <a:solidFill>
            <a:srgbClr val="263B6E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863840" y="2148840"/>
            <a:ext cx="2743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Binomial negativa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011680" y="2807208"/>
            <a:ext cx="2743200" cy="585216"/>
          </a:xfrm>
          <a:prstGeom prst="roundRect">
            <a:avLst>
              <a:gd name="adj" fmla="val 12500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240280" y="2807208"/>
            <a:ext cx="23774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FA0C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Var[N]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937760" y="2807208"/>
            <a:ext cx="2743200" cy="585216"/>
          </a:xfrm>
          <a:prstGeom prst="roundRect">
            <a:avLst>
              <a:gd name="adj" fmla="val 12500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2807208"/>
            <a:ext cx="2743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8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863840" y="2807208"/>
            <a:ext cx="2743200" cy="585216"/>
          </a:xfrm>
          <a:prstGeom prst="roundRect">
            <a:avLst>
              <a:gd name="adj" fmla="val 12500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863840" y="2807208"/>
            <a:ext cx="2743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011680" y="3465576"/>
            <a:ext cx="2743200" cy="585216"/>
          </a:xfrm>
          <a:prstGeom prst="roundRect">
            <a:avLst>
              <a:gd name="adj" fmla="val 12500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40280" y="3465576"/>
            <a:ext cx="23774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FA0C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E[S]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937760" y="3465576"/>
            <a:ext cx="2743200" cy="585216"/>
          </a:xfrm>
          <a:prstGeom prst="roundRect">
            <a:avLst>
              <a:gd name="adj" fmla="val 12500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37760" y="3465576"/>
            <a:ext cx="2743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8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863840" y="3465576"/>
            <a:ext cx="2743200" cy="585216"/>
          </a:xfrm>
          <a:prstGeom prst="roundRect">
            <a:avLst>
              <a:gd name="adj" fmla="val 12500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863840" y="3465576"/>
            <a:ext cx="2743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2011680" y="4123944"/>
            <a:ext cx="2743200" cy="585216"/>
          </a:xfrm>
          <a:prstGeom prst="roundRect">
            <a:avLst>
              <a:gd name="adj" fmla="val 12500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240280" y="4123944"/>
            <a:ext cx="23774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FA0C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Var[S]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4937760" y="4123944"/>
            <a:ext cx="2743200" cy="585216"/>
          </a:xfrm>
          <a:prstGeom prst="roundRect">
            <a:avLst>
              <a:gd name="adj" fmla="val 12500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37760" y="4123944"/>
            <a:ext cx="2743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8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81,900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863840" y="4123944"/>
            <a:ext cx="2743200" cy="585216"/>
          </a:xfrm>
          <a:prstGeom prst="roundRect">
            <a:avLst>
              <a:gd name="adj" fmla="val 12500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863840" y="4123944"/>
            <a:ext cx="2743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103,800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2011680" y="4782312"/>
            <a:ext cx="2743200" cy="585216"/>
          </a:xfrm>
          <a:prstGeom prst="roundRect">
            <a:avLst>
              <a:gd name="adj" fmla="val 12500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2240280" y="4782312"/>
            <a:ext cx="23774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FA0C8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Desv. est. de S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937760" y="4782312"/>
            <a:ext cx="2743200" cy="585216"/>
          </a:xfrm>
          <a:prstGeom prst="roundRect">
            <a:avLst>
              <a:gd name="adj" fmla="val 12500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937760" y="4782312"/>
            <a:ext cx="2743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8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286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7863840" y="4782312"/>
            <a:ext cx="2743200" cy="585216"/>
          </a:xfrm>
          <a:prstGeom prst="roundRect">
            <a:avLst>
              <a:gd name="adj" fmla="val 12500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863840" y="4782312"/>
            <a:ext cx="27432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322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48640" y="562356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binomial negativa da la misma prima esperada (E[S]) pero ~13% más de desviación: más riesgo, más capital.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02920" y="6455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Semana 2 · Sesión 5 — Frecuencia y modelo colectivo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Lo que tenemos y lo que falta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011680"/>
            <a:ext cx="5486400" cy="658368"/>
          </a:xfrm>
          <a:prstGeom prst="roundRect">
            <a:avLst>
              <a:gd name="adj" fmla="val 11111"/>
            </a:avLst>
          </a:prstGeom>
          <a:solidFill>
            <a:srgbClr val="17A69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084832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Ya tenemos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DOS momentos de S: E[S] y Var[S], analíticos, con la frecuencia bien elegida.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0" y="201168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0" y="2011680"/>
            <a:ext cx="5486400" cy="658368"/>
          </a:xfrm>
          <a:prstGeom prst="roundRect">
            <a:avLst>
              <a:gd name="adj" fmla="val 11111"/>
            </a:avLst>
          </a:prstGeom>
          <a:solidFill>
            <a:srgbClr val="E8873C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2084832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Todavía falta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766560" y="292608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distribución COMPLETA de S: convolución, Panjer y simulación. Eso es la Semana 3 — ahí sí se simula.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5029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notebook: ajustar Poisson vs. binomial negativa a conteos reales, y calcular E[S] y Var[S].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Facultad de Ciencias, UNAM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2026-08-31T02:06:39Z</dcterms:created>
  <dcterms:modified xsi:type="dcterms:W3CDTF">2026-08-31T02:06:39Z</dcterms:modified>
</cp:coreProperties>
</file>